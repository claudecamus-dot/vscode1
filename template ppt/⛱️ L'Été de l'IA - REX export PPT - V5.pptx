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85" r:id="rId36"/>
    <p:sldId id="286" r:id="rId37"/>
    <p:sldId id="260" r:id="rId4"/>
    <p:sldId id="287" r:id="rId38"/>
    <p:sldId id="261" r:id="rId5"/>
    <p:sldId id="288" r:id="rId39"/>
    <p:sldId id="289" r:id="rId40"/>
    <p:sldId id="262" r:id="rId6"/>
    <p:sldId id="290" r:id="rId41"/>
    <p:sldId id="291" r:id="rId42"/>
    <p:sldId id="263" r:id="rId7"/>
    <p:sldId id="292" r:id="rId43"/>
    <p:sldId id="284" r:id="rId8"/>
    <p:sldId id="293" r:id="rId44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localhost:3000" TargetMode="External"/><Relationship Id="rId3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0" name="Google Shape;600;g3efd8797bc9_0_38"/>
          <p:cNvSpPr txBox="1"/>
          <p:nvPr/>
        </p:nvSpPr>
        <p:spPr>
          <a:xfrm>
            <a:off x="672050" y="182134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La</a:t>
            </a:r>
            <a:endParaRPr b="1" sz="220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fr" sz="22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Huge</a:t>
            </a: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 Team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g3efd8797bc9_0_38"/>
          <p:cNvSpPr/>
          <p:nvPr/>
        </p:nvSpPr>
        <p:spPr>
          <a:xfrm>
            <a:off x="3861016" y="1167797"/>
            <a:ext cx="4293300" cy="613200"/>
          </a:xfrm>
          <a:prstGeom prst="round2DiagRect">
            <a:avLst>
              <a:gd fmla="val 0" name="adj1"/>
              <a:gd fmla="val 38299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CAMUS (CACL)</a:t>
            </a:r>
            <a:endParaRPr b="1" i="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02" name="Google Shape;602;g3efd8797bc9_0_38" title="BENJ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275" y="1131634"/>
            <a:ext cx="2562000" cy="25620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03" name="Google Shape;603;g3efd8797bc9_0_38"/>
          <p:cNvSpPr/>
          <p:nvPr/>
        </p:nvSpPr>
        <p:spPr>
          <a:xfrm rot="-8092467">
            <a:off x="2796726" y="2500466"/>
            <a:ext cx="1161638" cy="1942286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173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900" lIns="166900" spcFirstLastPara="1" rIns="166900" wrap="square" tIns="166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6"/>
              <a:buFont typeface="Arial"/>
              <a:buNone/>
            </a:pPr>
            <a:r>
              <a:t/>
            </a:r>
            <a:endParaRPr b="0" i="0" sz="25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efd8797bc9_0_38"/>
          <p:cNvSpPr/>
          <p:nvPr/>
        </p:nvSpPr>
        <p:spPr>
          <a:xfrm rot="-8091976">
            <a:off x="8022732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fd8797bc9_0_38"/>
          <p:cNvSpPr/>
          <p:nvPr/>
        </p:nvSpPr>
        <p:spPr>
          <a:xfrm rot="-8091976">
            <a:off x="5582545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fd8797bc9_0_38"/>
          <p:cNvSpPr/>
          <p:nvPr/>
        </p:nvSpPr>
        <p:spPr>
          <a:xfrm>
            <a:off x="3861016" y="1951747"/>
            <a:ext cx="4293300" cy="1741800"/>
          </a:xfrm>
          <a:prstGeom prst="round2DiagRect">
            <a:avLst>
              <a:gd fmla="val 21722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Coach produit, organisation &amp; transformation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Utilisateur de l'IA au quotidien, praticien BMAD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du REX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Contexte &amp; enjeux techniques</a:t>
            </a:r>
          </a:p>
          <a:p>
            <a:r>
              <a:rPr b="0"/>
              <a:t>Pourquoi l'export</a:t>
            </a:r>
          </a:p>
          <a:p>
            <a:r>
              <a:rPr b="0"/>
              <a:t>L'agent et les skills</a:t>
            </a:r>
          </a:p>
          <a:p>
            <a:r>
              <a:rPr b="0"/>
              <a:t>Le pipeline &amp; les fragilités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Difficultés, réussites &amp; démo</a:t>
            </a:r>
          </a:p>
          <a:p>
            <a:r>
              <a:rPr b="0"/>
              <a:t>Mes difficultés</a:t>
            </a:r>
          </a:p>
          <a:p>
            <a:r>
              <a:rPr b="0"/>
              <a:t>Mes réussites</a:t>
            </a:r>
          </a:p>
          <a:p>
            <a:r>
              <a:rPr b="0"/>
              <a:t>Le support généré en direct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Prise de recul</a:t>
            </a:r>
          </a:p>
          <a:p>
            <a:r>
              <a:rPr b="0"/>
              <a:t>Ce qu'il faut retenir</a:t>
            </a:r>
          </a:p>
          <a:p>
            <a:r>
              <a:rPr b="0"/>
              <a:t>La prochaine étape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texte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6928" y="2029968"/>
            <a:ext cx="5303520" cy="2788920"/>
          </a:xfrm>
        </p:spPr>
        <p:txBody>
          <a:bodyPr wrap="square" anchor="t"/>
          <a:lstStyle/>
          <a:p>
            <a:r>
              <a:rPr b="1" sz="1400">
                <a:solidFill>
                  <a:srgbClr val="0E2356"/>
                </a:solidFill>
              </a:rPr>
              <a:t>Le vrai livrable, ce n'est pas l'écran web : c'est la réunion de restitution — et elle se tient en PowerPoint.</a:t>
            </a:r>
          </a:p>
          <a:p>
            <a:r>
              <a:t>L'animateur présente les résultats d'une équipe (radar, points forts, points à renforcer) en séance — un format diapositive, pas un tableau de bord.</a:t>
            </a:r>
          </a:p>
          <a:p>
            <a:r>
              <a:t>US6.4 : produire ce support en un clic, au template OCTO, scopé par équipe ou par département,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  <p:sp>
        <p:nvSpPr>
          <p:cNvPr id="50" name="Callout Projet"/>
          <p:cNvSpPr/>
          <p:nvPr/>
        </p:nvSpPr>
        <p:spPr>
          <a:xfrm>
            <a:off x="566928" y="105156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ECEDF3"/>
          </a:solidFill>
          <a:ln>
            <a:noFill/>
          </a:ln>
        </p:spPr>
        <p:txBody>
          <a:bodyPr wrap="square" lIns="150000" rIns="150000" tIns="90000" bIns="90000" anchor="ctr"/>
          <a:lstStyle/>
          <a:p>
            <a:pPr marL="0" indent="0" algn="l">
              <a:buNone/>
            </a:pPr>
            <a:r>
              <a:rPr sz="1150" b="1" lang="fr-FR">
                <a:solidFill>
                  <a:srgbClr val="00AFCB"/>
                </a:solidFill>
              </a:rPr>
              <a:t>Le projet</a:t>
            </a:r>
            <a:r>
              <a:rPr sz="1150" lang="fr-FR">
                <a:solidFill>
                  <a:srgbClr val="0E2356"/>
                </a:solidFill>
              </a:rPr>
              <a:t> : un outil web où un animateur fait passer à son équipe un questionnaire de maturité agile/produit, puis en restitue les résultats (radar, points forts, axes à renforcer).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agent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est fabriqué par un agent et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outillée, pensée pour produire vite un PPT propre et vérifié.</a:t>
            </a:r>
          </a:p>
          <a:p>
            <a:r>
              <a:t>Agent ppt-designer : orchestre la génération et l'amélioration du support (US6.4).</a:t>
            </a:r>
          </a:p>
          <a:p>
            <a:r>
              <a:t>Composants prêts avec pptx-deck (barres, jauge, cartes) et contrôle géométrique avant génération.</a:t>
            </a:r>
          </a:p>
          <a:p>
            <a:r>
              <a:t>Rendu réel et inspection avec pptx-verify, pour voir ce que la géométrie ignore.</a:t>
            </a:r>
          </a:p>
          <a:p>
            <a:r>
              <a:t>Skill image : pptx-framed-image insère chaque photo en clonant la forme exacte du cadre, coins respectés.</a:t>
            </a:r>
          </a:p>
          <a:p>
            <a:r>
              <a:t>Skill texte : slide-text-polish relit chaque slide et bannit titres faibles, tournures creuses et abréviations cryptiques.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: le serveur dessine le radar en SVG, un Chrome sans fenêtre en prend une photo — seul moyen d'obtenir le même dessin qu'à l'écran.</a:t>
            </a:r>
          </a:p>
          <a:p>
            <a:r>
              <a:t>Étape 2 : un programme Python assemble le PowerPoint sur le modèle OCTO à partir de cette photo et des chiffres de l'équipe.</a:t>
            </a:r>
          </a:p>
          <a:p>
            <a:r>
              <a:t>Un seul navigateur ouvert pour tous les radars d'un département ; si Chrome ou Python manquent, seul l'export échoue.</a:t>
            </a:r>
          </a:p>
          <a:p>
            <a:r>
              <a:t>Deux fragilités corrigées pendant ce REX : CHROME_PATH remplace un chemin figé, requirements.txt fige python-pptx.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 d'export : deux étapes, deux fragilités déjà corrigées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66928" y="4160520"/>
            <a:ext cx="4791456" cy="658368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PPT-CI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même agent, mêmes skills, texte relu avant publication.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ff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est codé deux fois — écran et PowerPoint — sans garde-fou vérifiant qu'ils produisent le même dessin.</a:t>
            </a:r>
          </a:p>
          <a:p>
            <a:r>
              <a:t>Un slide peut passer tous les contrôles de géométrie et rester raté à l'œil : la géométrie ne suffit pas.</a:t>
            </a:r>
          </a:p>
          <a:p>
            <a:r>
              <a:t>Sans conversion PDF vers image sur ce poste, la seule vérification passe par PowerPoint qui exporte chaque slide.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 : parité du radar et jugement du rendu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66928" y="3703320"/>
            <a:ext cx="4791456" cy="658368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SUPPORT-CI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caler une image dans un cadre à coins arrondis en diagonale.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20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ussites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 : une boîte à outils et une vérification par le rendu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t>Une bibliothèque Python réutilisable (barres, jauge, cartes) qui détecte toute forme hors-cadre avant génération.</a:t>
            </a:r>
          </a:p>
          <a:p>
            <a:r>
              <a:t>Une vérification par le rendu réel : générer, exporter en images, regarder — pour voir ce que la géométrie ignore.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1920" y="3703320"/>
            <a:ext cx="4590288" cy="868680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SUPPORT-CI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un outil de relecture automatique a repéré une formulation à revoir avant publication.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upport_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Le radar du PowerPoint reprend celui de l'écran, mêmes couleurs par pilier ; un encart « commentaire » reste à l'animateur.</a:t>
            </a:r>
          </a:p>
          <a:p>
            <a:r>
              <a:t>Généré au template OCTO, pour une équipe comme pour un département.</a:t>
            </a:r>
          </a:p>
          <a:p>
            <a:r>
              <a:rPr b="1">
                <a:solidFill>
                  <a:srgbClr val="1CA9B6"/>
                </a:solidFill>
                <a:hlinkClick r:id="rId2"/>
              </a:rPr>
              <a:t>Voir la démo en direct : localhost:3000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généré, en un clic depuis l'outil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clusion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 sur la génération de ce PPT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La génération de PPT tient sa promesse — un clic produit un support fidèle — mais reste dépendante de l'environnement local.</a:t>
            </a:r>
          </a:p>
          <a:p>
            <a:r>
              <a:t>Radar fidèle à l'écran, support au template OCTO, pour une équipe comme pour un département.</a:t>
            </a:r>
          </a:p>
          <a:p>
            <a:r>
              <a:t>Vigilance : Chrome et Python doivent être installés — deux fragilités déjà réduites pendant ce REX.</a:t>
            </a:r>
          </a:p>
          <a:p>
            <a:r>
              <a:t>Sur un livrable PowerPoint, le seul juge fiable reste le rendu réel regardé à l'œil, jamais la géométrie seule.</a:t>
            </a:r>
          </a:p>
          <a:p>
            <a:r>
              <a:t>Contrainte vécue en préparant ce REX : la limite de 5 heures de Claude Code a été atteinte, un dépassement a été acheté à mes frais pour continuer.</a:t>
            </a:r>
          </a:p>
          <a:p>
            <a:r>
              <a:t>Prochaine étape : fiabiliser l'environnement (Epic 8, packaging) avant d'exposer l'export PPT hors du poste de dev.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