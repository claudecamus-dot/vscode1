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65" r:id="rId32"/>
    <p:sldId id="266" r:id="rId33"/>
    <p:sldId id="267" r:id="rId34"/>
    <p:sldId id="268" r:id="rId35"/>
    <p:sldId id="269" r:id="rId36"/>
    <p:sldId id="270" r:id="rId3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c55f3490c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2ac55f3490c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b83d7a7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b83d7a7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b83d7a7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8b83d7a7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b83d7a75f_0_12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8b83d7a7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900" cy="3478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8b83d7a75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38b83d7a75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83d7a75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83d7a75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b83d7a75f_0_63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38b83d7a75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b83d7a75f_0_88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8b83d7a75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69421"/>
              <a:buNone/>
            </a:pPr>
            <a:r>
              <a:rPr lang="en-US" sz="1210" dirty="0"/>
              <a:t>title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18.06.26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Sub title</a:t>
            </a:r>
            <a:r>
              <a:rPr lang="en-US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</a:t>
            </a:r>
            <a:endParaRPr/>
          </a:p>
        </p:txBody>
      </p:sp>
      <p:sp>
        <p:nvSpPr>
          <p:cNvPr id="579" name="Google Shape;579;p37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0" name="Google Shape;580;p37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Notre approche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8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6" name="Google Shape;586;p38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01</a:t>
            </a:r>
            <a:endParaRPr/>
          </a:p>
        </p:txBody>
      </p:sp>
      <p:pic>
        <p:nvPicPr>
          <p:cNvPr id="587" name="Google Shape;5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/>
          <p:nvPr/>
        </p:nvSpPr>
        <p:spPr>
          <a:xfrm>
            <a:off x="1509675" y="1077250"/>
            <a:ext cx="2926500" cy="3033000"/>
          </a:xfrm>
          <a:prstGeom prst="round1Rect">
            <a:avLst>
              <a:gd name="adj" fmla="val 1942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9"/>
          <p:cNvSpPr/>
          <p:nvPr/>
        </p:nvSpPr>
        <p:spPr>
          <a:xfrm flipH="1">
            <a:off x="69730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83651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704798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Contexte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1549725" y="1081726"/>
            <a:ext cx="2886600" cy="29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180975" lvl="0" indent="-14287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utfit"/>
              <a:buChar char="●"/>
            </a:pPr>
            <a:r>
              <a:rPr lang="fr-FR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endParaRPr sz="9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5487850" y="1077275"/>
            <a:ext cx="2958600" cy="3033000"/>
          </a:xfrm>
          <a:prstGeom prst="round1Rect">
            <a:avLst>
              <a:gd name="adj" fmla="val 194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9"/>
          <p:cNvSpPr/>
          <p:nvPr/>
        </p:nvSpPr>
        <p:spPr>
          <a:xfrm flipH="1">
            <a:off x="470755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484676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39"/>
          <p:cNvSpPr txBox="1"/>
          <p:nvPr/>
        </p:nvSpPr>
        <p:spPr>
          <a:xfrm>
            <a:off x="4715047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Vos Besoins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5627775" y="1081725"/>
            <a:ext cx="2587500" cy="29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lang="fr-FR" sz="900" b="1" dirty="0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r>
              <a:rPr lang="en-US" sz="9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900" b="1" dirty="0">
              <a:solidFill>
                <a:srgbClr val="00D2D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832000" y="4223400"/>
            <a:ext cx="7614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xxx</a:t>
            </a:r>
            <a:endParaRPr sz="10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03" name="Google Shape;603;p39"/>
          <p:cNvGrpSpPr/>
          <p:nvPr/>
        </p:nvGrpSpPr>
        <p:grpSpPr>
          <a:xfrm>
            <a:off x="704793" y="4381959"/>
            <a:ext cx="243320" cy="323982"/>
            <a:chOff x="705768" y="4381896"/>
            <a:chExt cx="243320" cy="323982"/>
          </a:xfrm>
        </p:grpSpPr>
        <p:grpSp>
          <p:nvGrpSpPr>
            <p:cNvPr id="604" name="Google Shape;604;p39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05" name="Google Shape;605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9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08" name="Google Shape;608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10" name="Google Shape;610;p39"/>
          <p:cNvPicPr preferRelativeResize="0"/>
          <p:nvPr/>
        </p:nvPicPr>
        <p:blipFill rotWithShape="1">
          <a:blip r:embed="rId3">
            <a:alphaModFix/>
          </a:blip>
          <a:srcRect l="7673" t="7981" r="7162" b="7922"/>
          <a:stretch/>
        </p:blipFill>
        <p:spPr>
          <a:xfrm>
            <a:off x="969321" y="1293088"/>
            <a:ext cx="375458" cy="37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/>
          <p:cNvPicPr preferRelativeResize="0"/>
          <p:nvPr/>
        </p:nvPicPr>
        <p:blipFill rotWithShape="1">
          <a:blip r:embed="rId4">
            <a:alphaModFix/>
          </a:blip>
          <a:srcRect l="6317" t="6317" r="6308" b="6308"/>
          <a:stretch/>
        </p:blipFill>
        <p:spPr>
          <a:xfrm>
            <a:off x="4952125" y="1263350"/>
            <a:ext cx="430350" cy="4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581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7558"/>
              <a:buNone/>
            </a:pPr>
            <a:r>
              <a:rPr lang="en-US" sz="1720" dirty="0"/>
              <a:t>xxx</a:t>
            </a:r>
            <a:endParaRPr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Notre approche</a:t>
            </a:r>
            <a:endParaRPr/>
          </a:p>
        </p:txBody>
      </p:sp>
      <p:sp>
        <p:nvSpPr>
          <p:cNvPr id="618" name="Google Shape;618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619" name="Google Shape;6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>
            <a:spLocks noGrp="1"/>
          </p:cNvSpPr>
          <p:nvPr>
            <p:ph type="title"/>
          </p:nvPr>
        </p:nvSpPr>
        <p:spPr>
          <a:xfrm>
            <a:off x="805445" y="361400"/>
            <a:ext cx="792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E2356"/>
                </a:solidFill>
              </a:rPr>
              <a:t>Notre approche </a:t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 flipH="1">
            <a:off x="1648332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dk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26203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1660509" y="1804430"/>
            <a:ext cx="150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300" b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8" name="Google Shape;628;p41"/>
          <p:cNvSpPr/>
          <p:nvPr/>
        </p:nvSpPr>
        <p:spPr>
          <a:xfrm flipH="1">
            <a:off x="3663654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45729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3379228" y="1804425"/>
            <a:ext cx="1911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3175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déployer les premières recommandations</a:t>
            </a:r>
            <a:endParaRPr sz="1300" b="1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1" name="Google Shape;631;p41"/>
          <p:cNvSpPr/>
          <p:nvPr/>
        </p:nvSpPr>
        <p:spPr>
          <a:xfrm flipH="1">
            <a:off x="5921920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6768453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5922525" y="1804425"/>
            <a:ext cx="1642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continuer la mise en oeuvre itérative du déploiement des actions</a:t>
            </a:r>
            <a:endParaRPr sz="1300" b="1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34" name="Google Shape;634;p41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04565" y="3343769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25" y="3343770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6969833" y="3343767"/>
            <a:ext cx="66435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1"/>
          <p:cNvSpPr/>
          <p:nvPr/>
        </p:nvSpPr>
        <p:spPr>
          <a:xfrm>
            <a:off x="2053699" y="2732375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1~2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1419100" y="4307875"/>
            <a:ext cx="20976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Comprendre vos ambitions et vos défis, structurer des premières réponses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3476500" y="4307875"/>
            <a:ext cx="230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Déployer et expérimenter les premières recommandations dans une approche itérative tout en ajustant selon les spécificités du terrain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5853045" y="4307875"/>
            <a:ext cx="2097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Continuer à soutenir et à déployer la mise en oeuvre des actions tout en vérifiant l’efficacité et l’impact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41"/>
          <p:cNvSpPr/>
          <p:nvPr/>
        </p:nvSpPr>
        <p:spPr>
          <a:xfrm>
            <a:off x="4053949" y="2735638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4~5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/>
          <p:nvPr/>
        </p:nvSpPr>
        <p:spPr>
          <a:xfrm>
            <a:off x="696125" y="1212275"/>
            <a:ext cx="2508900" cy="3652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69446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48" name="Google Shape;648;p42"/>
          <p:cNvCxnSpPr/>
          <p:nvPr/>
        </p:nvCxnSpPr>
        <p:spPr>
          <a:xfrm>
            <a:off x="1027522" y="3880078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42"/>
          <p:cNvSpPr/>
          <p:nvPr/>
        </p:nvSpPr>
        <p:spPr>
          <a:xfrm>
            <a:off x="277556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29715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/>
          <p:nvPr/>
        </p:nvSpPr>
        <p:spPr>
          <a:xfrm>
            <a:off x="3291700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3291700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Premier déploiement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53" name="Google Shape;653;p42"/>
          <p:cNvCxnSpPr/>
          <p:nvPr/>
        </p:nvCxnSpPr>
        <p:spPr>
          <a:xfrm>
            <a:off x="3663797" y="3868706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42"/>
          <p:cNvSpPr txBox="1"/>
          <p:nvPr/>
        </p:nvSpPr>
        <p:spPr>
          <a:xfrm>
            <a:off x="3332600" y="3875095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mise en oeuvre des ajustements de l’outillage &amp; KPIs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 « ways of working » concrets au service d'une meilleure collaboration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gestion du changement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91106" y="1466510"/>
            <a:ext cx="2508900" cy="15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Fixer le court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déployer les premières actions à plus forte valeur ajoutée et évaluer les gains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construire le moyen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Ajustement de l’outillage et des KPIs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 construction du re-alignement des “ways of working” du delivery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dispositifs d’accompagnement des rôles clés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5372802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7" name="Google Shape;6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950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/>
          <p:nvPr/>
        </p:nvSpPr>
        <p:spPr>
          <a:xfrm>
            <a:off x="5927975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9" name="Google Shape;659;p42"/>
          <p:cNvSpPr/>
          <p:nvPr/>
        </p:nvSpPr>
        <p:spPr>
          <a:xfrm>
            <a:off x="592797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implémentation itérative</a:t>
            </a:r>
            <a:endParaRPr sz="1100" i="0" u="none" strike="noStrike" cap="none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5968875" y="3861526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Une capacité concrète à “tester et apprendre” des SQUADs pour être plus efficace</a:t>
            </a: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5968878" y="1478150"/>
            <a:ext cx="2467800" cy="14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Mise en oeuvre des actions définies à l’étape précédente selon une approche de test et d’apprentissage (amélioration continue)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800907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8063213" y="1091458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Une approche contextualisée pour un premier déploiement aligné </a:t>
            </a:r>
            <a:endParaRPr/>
          </a:p>
        </p:txBody>
      </p:sp>
      <p:sp>
        <p:nvSpPr>
          <p:cNvPr id="665" name="Google Shape;665;p42"/>
          <p:cNvSpPr txBox="1"/>
          <p:nvPr/>
        </p:nvSpPr>
        <p:spPr>
          <a:xfrm>
            <a:off x="713975" y="3899075"/>
            <a:ext cx="24006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Rapport d’assessment flash : panorama priorisés des douleurs et forces 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Approche détaillée des actions liés aux recommandations pour les streams 2 et 3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86900" y="1462375"/>
            <a:ext cx="2467800" cy="1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Evaluer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SQUADs du  data warehouse HERMÈS selon  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missions, vision &amp; roadmaps,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/rôles, responsabilités et l’articulation avec les leaders, le management &amp; les experts,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l’efficacité de la comitologie,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l’organisation du process de delivery end to end &amp; les process de qualité,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à piloter sur la base d'indicateurs concrets (roadmap, vélocité, …).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Qualifier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de changement et adapter les recommandations aux spécificités du contexte HERMÈS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67" name="Google Shape;667;p42"/>
          <p:cNvCxnSpPr/>
          <p:nvPr/>
        </p:nvCxnSpPr>
        <p:spPr>
          <a:xfrm>
            <a:off x="6300286" y="3868711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/>
          <p:nvPr/>
        </p:nvSpPr>
        <p:spPr>
          <a:xfrm>
            <a:off x="1489850" y="1055675"/>
            <a:ext cx="6923100" cy="289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   M   M   J   V   S   D       L   M   M   J   V   S   D       L   M   M   J   V   S   D       L   M   M   J   V   S   D       L   M   M   J   V   S   D  </a:t>
            </a:r>
            <a:r>
              <a:rPr lang="en-US" sz="7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   L   M   M   J   V   S   D       L   M   M   J   V   S   D         L   M   M   J   V   S   D  </a:t>
            </a:r>
            <a:endParaRPr sz="700" b="1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1489850" y="2555576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None/>
            </a:pPr>
            <a:endParaRPr sz="17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3366525" y="2555575"/>
            <a:ext cx="49548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0300" rIns="1080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premiers déploiements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715224" y="255558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endParaRPr sz="7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1489850" y="1979525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p43"/>
          <p:cNvSpPr/>
          <p:nvPr/>
        </p:nvSpPr>
        <p:spPr>
          <a:xfrm>
            <a:off x="1486650" y="1979525"/>
            <a:ext cx="18261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1600" rIns="108000" bIns="20300" anchor="ctr" anchorCtr="0">
            <a:noAutofit/>
          </a:bodyPr>
          <a:lstStyle/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Assessment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715224" y="1979527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01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79" name="Google Shape;679;p43"/>
          <p:cNvCxnSpPr/>
          <p:nvPr/>
        </p:nvCxnSpPr>
        <p:spPr>
          <a:xfrm rot="10800000">
            <a:off x="244261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0" name="Google Shape;680;p43"/>
          <p:cNvSpPr txBox="1"/>
          <p:nvPr/>
        </p:nvSpPr>
        <p:spPr>
          <a:xfrm>
            <a:off x="2459726" y="1405222"/>
            <a:ext cx="521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28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1" name="Google Shape;681;p43"/>
          <p:cNvCxnSpPr/>
          <p:nvPr/>
        </p:nvCxnSpPr>
        <p:spPr>
          <a:xfrm rot="10800000">
            <a:off x="1576975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2" name="Google Shape;682;p43"/>
          <p:cNvSpPr txBox="1"/>
          <p:nvPr/>
        </p:nvSpPr>
        <p:spPr>
          <a:xfrm>
            <a:off x="1587741" y="1414982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21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3" name="Google Shape;683;p43"/>
          <p:cNvCxnSpPr/>
          <p:nvPr/>
        </p:nvCxnSpPr>
        <p:spPr>
          <a:xfrm rot="10800000">
            <a:off x="5004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4" name="Google Shape;684;p43"/>
          <p:cNvSpPr txBox="1"/>
          <p:nvPr/>
        </p:nvSpPr>
        <p:spPr>
          <a:xfrm>
            <a:off x="3312762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5" name="Google Shape;685;p43"/>
          <p:cNvCxnSpPr/>
          <p:nvPr/>
        </p:nvCxnSpPr>
        <p:spPr>
          <a:xfrm rot="10800000">
            <a:off x="5852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6" name="Google Shape;686;p43"/>
          <p:cNvSpPr txBox="1"/>
          <p:nvPr/>
        </p:nvSpPr>
        <p:spPr>
          <a:xfrm>
            <a:off x="4158508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12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7" name="Google Shape;687;p43"/>
          <p:cNvCxnSpPr/>
          <p:nvPr/>
        </p:nvCxnSpPr>
        <p:spPr>
          <a:xfrm rot="10800000">
            <a:off x="673553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8" name="Google Shape;688;p43"/>
          <p:cNvSpPr txBox="1"/>
          <p:nvPr/>
        </p:nvSpPr>
        <p:spPr>
          <a:xfrm>
            <a:off x="5017087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19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Planning des interventions</a:t>
            </a:r>
            <a:endParaRPr/>
          </a:p>
        </p:txBody>
      </p:sp>
      <p:cxnSp>
        <p:nvCxnSpPr>
          <p:cNvPr id="690" name="Google Shape;690;p43"/>
          <p:cNvCxnSpPr/>
          <p:nvPr/>
        </p:nvCxnSpPr>
        <p:spPr>
          <a:xfrm rot="10800000">
            <a:off x="762069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43"/>
          <p:cNvSpPr txBox="1"/>
          <p:nvPr/>
        </p:nvSpPr>
        <p:spPr>
          <a:xfrm>
            <a:off x="5858674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26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720500" y="4299600"/>
            <a:ext cx="7743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Cette mission pourra démarrer à partir du 21 JUIN*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i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* date de démarrage TBD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93" name="Google Shape;693;p43"/>
          <p:cNvGrpSpPr/>
          <p:nvPr/>
        </p:nvGrpSpPr>
        <p:grpSpPr>
          <a:xfrm>
            <a:off x="610048" y="4458096"/>
            <a:ext cx="243320" cy="323982"/>
            <a:chOff x="705768" y="4381896"/>
            <a:chExt cx="243320" cy="323982"/>
          </a:xfrm>
        </p:grpSpPr>
        <p:grpSp>
          <p:nvGrpSpPr>
            <p:cNvPr id="694" name="Google Shape;694;p43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95" name="Google Shape;695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43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98" name="Google Shape;698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00" name="Google Shape;7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10" y="1950245"/>
            <a:ext cx="386700" cy="34119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/>
          <p:nvPr/>
        </p:nvSpPr>
        <p:spPr>
          <a:xfrm>
            <a:off x="1281165" y="2202705"/>
            <a:ext cx="7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Kick off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1208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715224" y="312561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PILOTAGE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79512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3"/>
          <p:cNvSpPr/>
          <p:nvPr/>
        </p:nvSpPr>
        <p:spPr>
          <a:xfrm>
            <a:off x="56260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3"/>
          <p:cNvSpPr/>
          <p:nvPr/>
        </p:nvSpPr>
        <p:spPr>
          <a:xfrm>
            <a:off x="6506077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2601811" y="3333328"/>
            <a:ext cx="1038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Restitution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08" name="Google Shape;708;p43"/>
          <p:cNvCxnSpPr/>
          <p:nvPr/>
        </p:nvCxnSpPr>
        <p:spPr>
          <a:xfrm rot="10800000">
            <a:off x="330825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43"/>
          <p:cNvCxnSpPr/>
          <p:nvPr/>
        </p:nvCxnSpPr>
        <p:spPr>
          <a:xfrm rot="10800000">
            <a:off x="4156253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0" name="Google Shape;710;p43"/>
          <p:cNvSpPr txBox="1"/>
          <p:nvPr/>
        </p:nvSpPr>
        <p:spPr>
          <a:xfrm>
            <a:off x="675167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764655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9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804" y="3066075"/>
            <a:ext cx="386711" cy="37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277" y="1345475"/>
            <a:ext cx="1657050" cy="21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/>
          <p:nvPr/>
        </p:nvSpPr>
        <p:spPr>
          <a:xfrm>
            <a:off x="3987650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du réalisé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Questionnaire de maturité agile/produit — MVP, Increment 1 &amp;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19.06.26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072" y="868680"/>
            <a:ext cx="3749039" cy="3840480"/>
          </a:xfrm>
        </p:spPr>
        <p:txBody>
          <a:bodyPr wrap="square"/>
          <a:lstStyle/>
          <a:p>
            <a:r>
              <a:rPr b="1" sz="1400"/>
              <a:t>Réalisé (Increment 1 &amp; 2)</a:t>
            </a:r>
          </a:p>
          <a:p>
            <a:r>
              <a:rPr sz="1300"/>
              <a:t>Increment 1 — Collecte : import/ré-import du référentiel Excel, création de session, identification du répondant, parcours de réponse complet, soumission verrouillée.</a:t>
            </a:r>
          </a:p>
          <a:p>
            <a:r>
              <a:rPr sz="1300"/>
              <a:t>Increment 2 — Résultats bruts : écran animateur agrégé/anonyme avec radar par objectif, drill-down nominatif par question, filtre avec/sans manager.</a:t>
            </a:r>
          </a:p>
          <a:p>
            <a:r>
              <a:rPr sz="1300"/>
              <a:t>Correction orthographique automatique des textes importés (vocabulaire agile préservé).</a:t>
            </a:r>
          </a:p>
          <a:p>
            <a:r>
              <a:rPr sz="1300"/>
              <a:t>Hiérarchie pilier → objectif → question reconstruite directement depuis le fichier Excel source.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754880" y="868680"/>
            <a:ext cx="3749039" cy="3840480"/>
          </a:xfrm>
        </p:spPr>
        <p:txBody>
          <a:bodyPr wrap="square"/>
          <a:lstStyle/>
          <a:p>
            <a:r>
              <a:rPr b="1" sz="1400"/>
              <a:t>Reste à faire</a:t>
            </a:r>
          </a:p>
          <a:p>
            <a:r>
              <a:rPr sz="1300"/>
              <a:t>Increment 3 — Restitution : pré-analyses (minimum, maximum, dispersion, taux de réponse).</a:t>
            </a:r>
          </a:p>
          <a:p>
            <a:r>
              <a:rPr sz="1300"/>
              <a:t>Export du support de restitution au format slide (PPT).</a:t>
            </a:r>
          </a:p>
          <a:p>
            <a:r>
              <a:rPr sz="1300"/>
              <a:t>Comparaison multi-sessions : radar superposé, régressions/progressions, gestion du turnover.</a:t>
            </a:r>
          </a:p>
          <a:p>
            <a:r>
              <a:rPr sz="1300"/>
              <a:t>Epic 7 (hors MVP) — Consolidation multi-équipes : vue dédiée Sponsor/RH/Direction.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072" y="868680"/>
            <a:ext cx="2286000" cy="3840480"/>
          </a:xfrm>
        </p:spPr>
        <p:txBody>
          <a:bodyPr wrap="square"/>
          <a:lstStyle/>
          <a:p>
            <a:r>
              <a:rPr sz="1300"/>
              <a:t>Import du fichier Excel (1 onglet = 1 pilier).</a:t>
            </a:r>
          </a:p>
          <a:p>
            <a:r>
              <a:rPr sz="1300"/>
              <a:t>Un nouvel import remplace intégralement le référentiel.</a:t>
            </a:r>
          </a:p>
          <a:p>
            <a:r>
              <a:rPr sz="1300"/>
              <a:t>Création d'une session avec dates d'ouverture/fermeture de la saisie.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Espace animateur — Import &amp; session</a:t>
            </a:r>
          </a:p>
        </p:txBody>
      </p:sp>
      <p:pic>
        <p:nvPicPr>
          <p:cNvPr id="4" name="Picture 3" descr="01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892254"/>
            <a:ext cx="5394960" cy="37933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072" y="868680"/>
            <a:ext cx="2286000" cy="3840480"/>
          </a:xfrm>
        </p:spPr>
        <p:txBody>
          <a:bodyPr wrap="square"/>
          <a:lstStyle/>
          <a:p>
            <a:r>
              <a:rPr sz="1300"/>
              <a:t>Navigation par pilier, progression visible.</a:t>
            </a:r>
          </a:p>
          <a:p>
            <a:r>
              <a:rPr sz="1300"/>
              <a:t>Réponse par "Choix 0-3" sans terminologie de notation visible.</a:t>
            </a:r>
          </a:p>
          <a:p>
            <a:r>
              <a:rPr sz="1300"/>
              <a:t>Détail du choix affiché dans un encart dédié.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Parcours répondant — Questionnaire</a:t>
            </a:r>
          </a:p>
        </p:txBody>
      </p:sp>
      <p:pic>
        <p:nvPicPr>
          <p:cNvPr id="4" name="Picture 3" descr="02-repond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892254"/>
            <a:ext cx="5394960" cy="37933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072" y="868680"/>
            <a:ext cx="2286000" cy="3840480"/>
          </a:xfrm>
        </p:spPr>
        <p:txBody>
          <a:bodyPr wrap="square"/>
          <a:lstStyle/>
          <a:p>
            <a:r>
              <a:rPr sz="1300"/>
              <a:t>Un axe par objectif (sous-catégorie), coloré selon son pilier.</a:t>
            </a:r>
          </a:p>
          <a:p>
            <a:r>
              <a:rPr sz="1300"/>
              <a:t>Filtre avec/sans manager.</a:t>
            </a:r>
          </a:p>
          <a:p>
            <a:r>
              <a:rPr sz="1300"/>
              <a:t>Calcul agrégé en temps réel.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animateur — Radar par objectif</a:t>
            </a:r>
          </a:p>
        </p:txBody>
      </p:sp>
      <p:pic>
        <p:nvPicPr>
          <p:cNvPr id="4" name="Picture 3" descr="03-resultats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892254"/>
            <a:ext cx="5394960" cy="37933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6072" y="868680"/>
            <a:ext cx="2286000" cy="3840480"/>
          </a:xfrm>
        </p:spPr>
        <p:txBody>
          <a:bodyPr wrap="square"/>
          <a:lstStyle/>
          <a:p>
            <a:r>
              <a:rPr sz="1300"/>
              <a:t>Accordéon pilier → objectif → question.</a:t>
            </a:r>
          </a:p>
          <a:p>
            <a:r>
              <a:rPr sz="1300"/>
              <a:t>Drill-down nominatif à la demande, par question.</a:t>
            </a:r>
          </a:p>
          <a:p>
            <a:r>
              <a:rPr sz="1300"/>
              <a:t>Aucun seuil minimal d'anonymat.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animateur — Détail par pilier</a:t>
            </a:r>
          </a:p>
        </p:txBody>
      </p:sp>
      <p:pic>
        <p:nvPicPr>
          <p:cNvPr id="4" name="Picture 3" descr="04-resultat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892254"/>
            <a:ext cx="5394960" cy="3793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