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9"/>
  </p:notesMasterIdLst>
  <p:sldIdLst>
    <p:sldId id="256" r:id="rId2"/>
    <p:sldId id="285" r:id="rId36"/>
    <p:sldId id="286" r:id="rId37"/>
    <p:sldId id="260" r:id="rId4"/>
    <p:sldId id="287" r:id="rId38"/>
    <p:sldId id="261" r:id="rId5"/>
    <p:sldId id="288" r:id="rId39"/>
    <p:sldId id="289" r:id="rId40"/>
    <p:sldId id="290" r:id="rId41"/>
    <p:sldId id="262" r:id="rId6"/>
    <p:sldId id="291" r:id="rId42"/>
    <p:sldId id="292" r:id="rId43"/>
    <p:sldId id="263" r:id="rId7"/>
    <p:sldId id="293" r:id="rId44"/>
    <p:sldId id="284" r:id="rId8"/>
    <p:sldId id="294" r:id="rId45"/>
    <p:sldId id="271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Outfit" panose="020B0604020202020204" charset="0"/>
      <p:regular r:id="rId24"/>
      <p:bold r:id="rId25"/>
    </p:embeddedFont>
    <p:embeddedFont>
      <p:font typeface="Outfit Light" panose="020B0604020202020204" charset="0"/>
      <p:regular r:id="rId26"/>
      <p:bold r:id="rId27"/>
    </p:embeddedFont>
    <p:embeddedFont>
      <p:font typeface="Outfit Medium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8.xml"/><Relationship Id="rId37" Type="http://schemas.openxmlformats.org/officeDocument/2006/relationships/slide" Target="slides/slide19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ac55f3490c_0_8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ac55f3490c_0_8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Template de couverture pour pouvoir changer la photo de fond hors catalogue de photo de couverture OCTO </a:t>
            </a:r>
            <a:br>
              <a:rPr lang="en-US" b="1"/>
            </a:br>
            <a:r>
              <a:rPr lang="en-US" sz="1600" b="1"/>
              <a:t>TUTO :</a:t>
            </a:r>
            <a:br>
              <a:rPr lang="en-US" sz="1000"/>
            </a:br>
            <a:r>
              <a:rPr lang="en-US" sz="1000"/>
              <a:t>&gt; Cliquez sur l’image fond de la couverture (cela va sélectionner le filtre bleu)</a:t>
            </a:r>
            <a:br>
              <a:rPr lang="en-US" sz="1000"/>
            </a:br>
            <a:r>
              <a:rPr lang="en-US" sz="1000"/>
              <a:t>&gt; Décalez le filtre bleu sur la droite à l’aide des flèches de votre clavier (pour permettre l’accès à la photo en arrière plan)</a:t>
            </a:r>
            <a:br>
              <a:rPr lang="en-US" sz="1000"/>
            </a:br>
            <a:r>
              <a:rPr lang="en-US" sz="1000"/>
              <a:t>&gt; Cliquez sur la photo en arrière plan </a:t>
            </a:r>
            <a:br>
              <a:rPr lang="en-US" sz="1000"/>
            </a:br>
            <a:r>
              <a:rPr lang="en-US" sz="1000"/>
              <a:t>&gt; Cliquez sur remplacer l’image et importez la photo de votre choix </a:t>
            </a:r>
            <a:br>
              <a:rPr lang="en-US" sz="1000"/>
            </a:br>
            <a:r>
              <a:rPr lang="en-US" sz="1000"/>
              <a:t>&gt; Cliquez sur le filtre bleu et remettez-le en place à l’aide des flèches de votres clavier.</a:t>
            </a:r>
            <a:br>
              <a:rPr lang="en-US" sz="1000"/>
            </a:br>
            <a:br>
              <a:rPr lang="en-US" sz="1000"/>
            </a:br>
            <a:r>
              <a:rPr lang="en-US" sz="1000"/>
              <a:t>Bravo le tour est joué ! :)</a:t>
            </a:r>
            <a:br>
              <a:rPr lang="en-US" sz="1000"/>
            </a:br>
            <a:endParaRPr sz="10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SLIDES_API143262596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SLIDES_API143262596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ac55f3490c_0_9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7" name="Google Shape;647;g2ac55f3490c_0_9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f01dfc4c0c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3f01dfc4c0c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f01dfc4c0c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1" name="Google Shape;661;g3f01dfc4c0c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>
          <a:extLst>
            <a:ext uri="{FF2B5EF4-FFF2-40B4-BE49-F238E27FC236}">
              <a16:creationId xmlns:a16="http://schemas.microsoft.com/office/drawing/2014/main" id="{0598CA00-323D-8E0C-E757-BC02FF3B9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01dfc4c0c_1_15:notes">
            <a:extLst>
              <a:ext uri="{FF2B5EF4-FFF2-40B4-BE49-F238E27FC236}">
                <a16:creationId xmlns:a16="http://schemas.microsoft.com/office/drawing/2014/main" id="{FA3BCC7D-9187-F933-86A9-4C9D83E2B2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8" name="Google Shape;668;g3f01dfc4c0c_1_15:notes">
            <a:extLst>
              <a:ext uri="{FF2B5EF4-FFF2-40B4-BE49-F238E27FC236}">
                <a16:creationId xmlns:a16="http://schemas.microsoft.com/office/drawing/2014/main" id="{534018B9-7378-B177-BDB0-FD077F4673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928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f01dfc4c0c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g3f01dfc4c0c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ac55f3490c_0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g2ac55f3490c_0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ac55f3490c_0_9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ac55f3490c_0_9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ac55f3490c_0_9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ac55f3490c_0_9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ac55f3490c_0_9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ac55f3490c_0_9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ac55f3490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ac55f3490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c55f3490c_0_9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c55f3490c_0_9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da166e355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da166e355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ac55f3490c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ac55f3490c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ac55f3490c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ac55f3490c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forms/d/e/1FAIpQLSdsdLa5pHJ5McWA0KPScw4Op8M0EZXBt4WTyRWLyk_cmQuwMQ/viewform" TargetMode="External"/><Relationship Id="rId4" Type="http://schemas.openxmlformats.org/officeDocument/2006/relationships/hyperlink" Target="https://mattermost.octo.tools/octo/pl/oafybpwsc3bbzdpxuk16gtspty" TargetMode="External"/><Relationship Id="rId5" Type="http://schemas.openxmlformats.org/officeDocument/2006/relationships/hyperlink" Target="https://script.google.com/a/octo.com/macros/s/AKfycbxo0URVK9I07kw4xveHGI00WUhzz4coonj0WDNCK_xMTwfpQoiFJGl3QKPKDgNagrDGrA/exec" TargetMode="External"/><Relationship Id="rId6" Type="http://schemas.openxmlformats.org/officeDocument/2006/relationships/hyperlink" Target="https://octo.atlassian.net/wiki/spaces/OCTO/pages/4945477635/Super+Powered+by+A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://localhost:3000" TargetMode="External"/><Relationship Id="rId3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5"/>
          <p:cNvPicPr preferRelativeResize="0"/>
          <p:nvPr/>
        </p:nvPicPr>
        <p:blipFill rotWithShape="1">
          <a:blip r:embed="rId3">
            <a:alphaModFix/>
          </a:blip>
          <a:srcRect t="7798" b="7807"/>
          <a:stretch/>
        </p:blipFill>
        <p:spPr>
          <a:xfrm>
            <a:off x="-3425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568" name="Google Shape;568;p35"/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rgbClr val="133B9D">
              <a:alpha val="683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entury Gothic"/>
              <a:buNone/>
            </a:pPr>
            <a:endParaRPr sz="14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70" name="Google Shape;570;p3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entury Gothic"/>
              <a:buNone/>
            </a:pPr>
            <a:fld id="{00000000-1234-1234-1234-123412341234}" type="slidenum">
              <a:rPr lang="en-US" sz="80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1</a:t>
            </a:fld>
            <a:endParaRPr sz="80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571" name="Google Shape;571;p35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2" name="Google Shape;572;p35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3" name="Google Shape;573;p35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574" name="Google Shape;574;p35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6" name="Google Shape;576;p35"/>
            <p:cNvCxnSpPr>
              <a:endCxn id="57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7" name="Google Shape;577;p35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5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79" name="Google Shape;579;p35"/>
            <p:cNvCxnSpPr>
              <a:stCxn id="577" idx="2"/>
              <a:endCxn id="57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0" name="Google Shape;580;p35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581" name="Google Shape;581;p35"/>
            <p:cNvCxnSpPr>
              <a:stCxn id="582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3" name="Google Shape;583;p35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4" name="Google Shape;584;p35"/>
            <p:cNvCxnSpPr>
              <a:endCxn id="583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5" name="Google Shape;585;p35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6" name="Google Shape;586;p35"/>
            <p:cNvCxnSpPr>
              <a:stCxn id="585" idx="2"/>
              <a:endCxn id="583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87" name="Google Shape;587;p35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588" name="Google Shape;588;p35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589" name="Google Shape;589;p35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2" name="Google Shape;592;p35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[REX] IA export PPT</a:t>
            </a:r>
            <a:endParaRPr dirty="0"/>
          </a:p>
        </p:txBody>
      </p:sp>
      <p:sp>
        <p:nvSpPr>
          <p:cNvPr id="595" name="Google Shape;595;p35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 Technology</a:t>
            </a:r>
            <a:endParaRPr sz="1000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⛱️ L'Été de l'IA</a:t>
            </a:r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08.07.26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 menu aujourd’hui</a:t>
            </a:r>
            <a:endParaRPr/>
          </a:p>
        </p:txBody>
      </p:sp>
      <p:sp>
        <p:nvSpPr>
          <p:cNvPr id="640" name="Google Shape;640;p3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41" name="Google Shape;641;p3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42" name="Google Shape;642;p3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Mes difficultés &amp; mes réussites</a:t>
            </a:r>
            <a:endParaRPr dirty="0"/>
          </a:p>
        </p:txBody>
      </p:sp>
      <p:sp>
        <p:nvSpPr>
          <p:cNvPr id="643" name="Google Shape;643;p3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44" name="Google Shape;644;p3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9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Contexte</a:t>
            </a:r>
            <a:endParaRPr dirty="0"/>
          </a:p>
        </p:txBody>
      </p:sp>
      <p:sp>
        <p:nvSpPr>
          <p:cNvPr id="650" name="Google Shape;650;p39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01</a:t>
            </a:r>
            <a:endParaRPr sz="1700" b="1"/>
          </a:p>
        </p:txBody>
      </p:sp>
      <p:pic>
        <p:nvPicPr>
          <p:cNvPr id="651" name="Google Shape;651;p39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0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Enjeux techniques</a:t>
            </a:r>
            <a:endParaRPr dirty="0"/>
          </a:p>
        </p:txBody>
      </p:sp>
      <p:sp>
        <p:nvSpPr>
          <p:cNvPr id="657" name="Google Shape;657;p40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02</a:t>
            </a:r>
            <a:endParaRPr sz="1700" b="1"/>
          </a:p>
        </p:txBody>
      </p:sp>
      <p:pic>
        <p:nvPicPr>
          <p:cNvPr id="658" name="Google Shape;658;p40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1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Mes difficultés et mes </a:t>
            </a:r>
            <a:r>
              <a:rPr lang="en-US" dirty="0" err="1"/>
              <a:t>réussites</a:t>
            </a:r>
            <a:endParaRPr dirty="0"/>
          </a:p>
        </p:txBody>
      </p:sp>
      <p:sp>
        <p:nvSpPr>
          <p:cNvPr id="664" name="Google Shape;664;p41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03</a:t>
            </a:r>
            <a:endParaRPr sz="1700" b="1"/>
          </a:p>
        </p:txBody>
      </p:sp>
      <p:pic>
        <p:nvPicPr>
          <p:cNvPr id="665" name="Google Shape;665;p41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Démo</a:t>
            </a:r>
            <a:endParaRPr dirty="0"/>
          </a:p>
        </p:txBody>
      </p:sp>
      <p:sp>
        <p:nvSpPr>
          <p:cNvPr id="671" name="Google Shape;671;p42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/>
              <a:t>04</a:t>
            </a:r>
            <a:endParaRPr sz="1700" b="1"/>
          </a:p>
        </p:txBody>
      </p:sp>
      <p:pic>
        <p:nvPicPr>
          <p:cNvPr id="672" name="Google Shape;672;p42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>
          <a:extLst>
            <a:ext uri="{FF2B5EF4-FFF2-40B4-BE49-F238E27FC236}">
              <a16:creationId xmlns:a16="http://schemas.microsoft.com/office/drawing/2014/main" id="{402A778D-91CA-F194-BD0C-F4766A1A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>
            <a:extLst>
              <a:ext uri="{FF2B5EF4-FFF2-40B4-BE49-F238E27FC236}">
                <a16:creationId xmlns:a16="http://schemas.microsoft.com/office/drawing/2014/main" id="{97B5301F-4B35-7763-F66A-C00136B5E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671" name="Google Shape;671;p42">
            <a:extLst>
              <a:ext uri="{FF2B5EF4-FFF2-40B4-BE49-F238E27FC236}">
                <a16:creationId xmlns:a16="http://schemas.microsoft.com/office/drawing/2014/main" id="{70543A09-7116-564E-CE5B-02C75FA1C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700" dirty="0"/>
              <a:t>05</a:t>
            </a:r>
            <a:endParaRPr sz="1700" b="1" dirty="0"/>
          </a:p>
        </p:txBody>
      </p:sp>
      <p:pic>
        <p:nvPicPr>
          <p:cNvPr id="672" name="Google Shape;672;p42">
            <a:extLst>
              <a:ext uri="{FF2B5EF4-FFF2-40B4-BE49-F238E27FC236}">
                <a16:creationId xmlns:a16="http://schemas.microsoft.com/office/drawing/2014/main" id="{AA125505-45EF-34F7-2619-B1EC00F4BEA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4290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9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793" name="Google Shape;793;p49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soumettre de nouveaux REX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Le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GForm est toujours ouvert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4"/>
              </a:rPr>
              <a:t>Son mail d’accompagnement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Pour naviguer dans les 50+ REX </a:t>
            </a:r>
            <a:endParaRPr sz="1400" b="1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5"/>
              </a:rPr>
              <a:t>Le dashboard 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6"/>
              </a:rPr>
              <a:t>La page Confluence de référence, celle de Super Powered by AI </a:t>
            </a:r>
            <a:endParaRPr/>
          </a:p>
        </p:txBody>
      </p:sp>
      <p:sp>
        <p:nvSpPr>
          <p:cNvPr id="794" name="Google Shape;794;p49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2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52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2" name="Google Shape;812;p52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3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53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19" name="Google Shape;819;p53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4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54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285750" lvl="0" indent="-190500" algn="l" rtl="0">
              <a:spcBef>
                <a:spcPts val="0"/>
              </a:spcBef>
              <a:spcAft>
                <a:spcPts val="0"/>
              </a:spcAft>
              <a:buSzPts val="1200"/>
              <a:buChar char="๏"/>
            </a:pPr>
            <a:endParaRPr/>
          </a:p>
        </p:txBody>
      </p:sp>
      <p:sp>
        <p:nvSpPr>
          <p:cNvPr id="826" name="Google Shape;826;p54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7" name="Google Shape;82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5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</p:spPr>
        <p:txBody>
          <a:bodyPr spcFirstLastPara="1" wrap="square" lIns="0" tIns="180000" rIns="91425" bIns="18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5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55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35" name="Google Shape;8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6"/>
          <p:cNvSpPr txBox="1"/>
          <p:nvPr/>
        </p:nvSpPr>
        <p:spPr>
          <a:xfrm>
            <a:off x="43796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(sl.50)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1" name="Google Shape;841;p56"/>
          <p:cNvPicPr preferRelativeResize="0"/>
          <p:nvPr/>
        </p:nvPicPr>
        <p:blipFill rotWithShape="1">
          <a:blip r:embed="rId3">
            <a:alphaModFix/>
          </a:blip>
          <a:srcRect t="661" b="671"/>
          <a:stretch/>
        </p:blipFill>
        <p:spPr>
          <a:xfrm>
            <a:off x="1405950" y="1659800"/>
            <a:ext cx="2551200" cy="25515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7"/>
          <p:cNvSpPr txBox="1"/>
          <p:nvPr/>
        </p:nvSpPr>
        <p:spPr>
          <a:xfrm>
            <a:off x="4684400" y="2101500"/>
            <a:ext cx="35649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Chapitre (sl. 51)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47" name="Google Shape;847;p57"/>
          <p:cNvPicPr preferRelativeResize="0"/>
          <p:nvPr/>
        </p:nvPicPr>
        <p:blipFill rotWithShape="1">
          <a:blip r:embed="rId3">
            <a:alphaModFix/>
          </a:blip>
          <a:srcRect l="2310" t="671" r="1850" b="661"/>
          <a:stretch/>
        </p:blipFill>
        <p:spPr>
          <a:xfrm>
            <a:off x="841250" y="817575"/>
            <a:ext cx="3652500" cy="3811500"/>
          </a:xfrm>
          <a:prstGeom prst="round2DiagRect">
            <a:avLst>
              <a:gd name="adj1" fmla="val 0"/>
              <a:gd name="adj2" fmla="val 1598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8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pic>
        <p:nvPicPr>
          <p:cNvPr id="853" name="Google Shape;85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500" y="3474850"/>
            <a:ext cx="1389300" cy="13893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pic>
      <p:sp>
        <p:nvSpPr>
          <p:cNvPr id="854" name="Google Shape;854;p58"/>
          <p:cNvSpPr txBox="1"/>
          <p:nvPr/>
        </p:nvSpPr>
        <p:spPr>
          <a:xfrm>
            <a:off x="2013700" y="2380900"/>
            <a:ext cx="4766400" cy="9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 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 slide Titre,contenu, bloc conclu (sl.65, 66, 69, 70)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6267125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  <p:sp>
        <p:nvSpPr>
          <p:cNvPr id="860" name="Google Shape;860;p59"/>
          <p:cNvSpPr txBox="1"/>
          <p:nvPr/>
        </p:nvSpPr>
        <p:spPr>
          <a:xfrm>
            <a:off x="3366762" y="549225"/>
            <a:ext cx="2709600" cy="31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Template de photo à copier dans</a:t>
            </a:r>
            <a:r>
              <a:rPr lang="en-US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le slide Titre, sous titre, contenu et cadre blanc (sl. 63, 64, 67, 68) </a:t>
            </a:r>
            <a:r>
              <a:rPr lang="en-US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puis dans la barre d’outils, sélectionner “remplacer l’image”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861" name="Google Shape;861;p59"/>
          <p:cNvPicPr preferRelativeResize="0"/>
          <p:nvPr/>
        </p:nvPicPr>
        <p:blipFill rotWithShape="1">
          <a:blip r:embed="rId3">
            <a:alphaModFix/>
          </a:blip>
          <a:srcRect l="15021" r="15014"/>
          <a:stretch/>
        </p:blipFill>
        <p:spPr>
          <a:xfrm>
            <a:off x="571500" y="299825"/>
            <a:ext cx="2599500" cy="3715500"/>
          </a:xfrm>
          <a:prstGeom prst="round2DiagRect">
            <a:avLst>
              <a:gd name="adj1" fmla="val 50000"/>
              <a:gd name="adj2" fmla="val 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00" name="Google Shape;600;g3efd8797bc9_0_38"/>
          <p:cNvSpPr txBox="1"/>
          <p:nvPr/>
        </p:nvSpPr>
        <p:spPr>
          <a:xfrm>
            <a:off x="672050" y="182134"/>
            <a:ext cx="1190100" cy="10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La</a:t>
            </a:r>
            <a:endParaRPr b="1" sz="2200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fr" sz="2200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Huge</a:t>
            </a:r>
            <a:r>
              <a:rPr b="1" i="0" lang="fr" sz="22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 Team</a:t>
            </a:r>
            <a:endParaRPr b="1" i="0" sz="2200" u="none" cap="none" strike="noStrike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01" name="Google Shape;601;g3efd8797bc9_0_38"/>
          <p:cNvSpPr/>
          <p:nvPr/>
        </p:nvSpPr>
        <p:spPr>
          <a:xfrm>
            <a:off x="3861016" y="1167797"/>
            <a:ext cx="4293300" cy="613200"/>
          </a:xfrm>
          <a:prstGeom prst="round2DiagRect">
            <a:avLst>
              <a:gd fmla="val 0" name="adj1"/>
              <a:gd fmla="val 38299" name="adj2"/>
            </a:avLst>
          </a:prstGeom>
          <a:noFill/>
          <a:ln cap="flat" cmpd="sng" w="9525">
            <a:solidFill>
              <a:srgbClr val="0E23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Claude CAMUS (CACL)</a:t>
            </a:r>
            <a:endParaRPr b="1" i="0" u="none" cap="none" strike="noStrik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602" name="Google Shape;602;g3efd8797bc9_0_38" title="BENJ.jp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36275" y="1131634"/>
            <a:ext cx="2562000" cy="25620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03" name="Google Shape;603;g3efd8797bc9_0_38"/>
          <p:cNvSpPr/>
          <p:nvPr/>
        </p:nvSpPr>
        <p:spPr>
          <a:xfrm rot="-8092467">
            <a:off x="2796726" y="2500466"/>
            <a:ext cx="1161638" cy="1942286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173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66900" lIns="166900" spcFirstLastPara="1" rIns="166900" wrap="square" tIns="166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6"/>
              <a:buFont typeface="Arial"/>
              <a:buNone/>
            </a:pPr>
            <a:r>
              <a:t/>
            </a:r>
            <a:endParaRPr b="0" i="0" sz="255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g3efd8797bc9_0_38"/>
          <p:cNvSpPr/>
          <p:nvPr/>
        </p:nvSpPr>
        <p:spPr>
          <a:xfrm rot="-8091976">
            <a:off x="8022732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g3efd8797bc9_0_38"/>
          <p:cNvSpPr/>
          <p:nvPr/>
        </p:nvSpPr>
        <p:spPr>
          <a:xfrm rot="-8091976">
            <a:off x="5582545" y="3019334"/>
            <a:ext cx="636186" cy="1063845"/>
          </a:xfrm>
          <a:prstGeom prst="moon">
            <a:avLst>
              <a:gd fmla="val 63970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efd8797bc9_0_38"/>
          <p:cNvSpPr/>
          <p:nvPr/>
        </p:nvSpPr>
        <p:spPr>
          <a:xfrm>
            <a:off x="3861016" y="1951747"/>
            <a:ext cx="4293300" cy="1741800"/>
          </a:xfrm>
          <a:prstGeom prst="round2DiagRect">
            <a:avLst>
              <a:gd fmla="val 21722" name="adj1"/>
              <a:gd fmla="val 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Coach produit, organisation &amp; transformation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●"/>
            </a:pPr>
            <a:r>
              <a:rPr lang="fr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Utilisateur de l'IA au quotidien, praticien BMAD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du REX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Contexte &amp; enjeux techniques</a:t>
            </a:r>
          </a:p>
          <a:p>
            <a:r>
              <a:rPr b="0"/>
              <a:t>Pourquoi l'export</a:t>
            </a:r>
          </a:p>
          <a:p>
            <a:r>
              <a:rPr b="0"/>
              <a:t>L'agent et les skills</a:t>
            </a:r>
          </a:p>
          <a:p>
            <a:r>
              <a:rPr b="0"/>
              <a:t>Le pipeline</a:t>
            </a:r>
          </a:p>
          <a:p>
            <a:r>
              <a:rPr b="0"/>
              <a:t>Fragilités corrigées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Difficultés, réussites &amp; démo</a:t>
            </a:r>
          </a:p>
          <a:p>
            <a:r>
              <a:rPr b="0"/>
              <a:t>Mes difficultés</a:t>
            </a:r>
          </a:p>
          <a:p>
            <a:r>
              <a:rPr b="0"/>
              <a:t>Mes réussites</a:t>
            </a:r>
          </a:p>
          <a:p>
            <a:r>
              <a:rPr b="0"/>
              <a:t>Le support généré en direct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 wrap="square"/>
          <a:lstStyle/>
          <a:p>
            <a:r>
              <a:rPr b="1">
                <a:solidFill>
                  <a:srgbClr val="0E2356"/>
                </a:solidFill>
              </a:rPr>
              <a:t>Prise de recul</a:t>
            </a:r>
          </a:p>
          <a:p>
            <a:r>
              <a:rPr b="0"/>
              <a:t>Ce qu'il faut retenir</a:t>
            </a:r>
          </a:p>
          <a:p>
            <a:r>
              <a:rPr b="0"/>
              <a:t>La prochaine étape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vrai livrable, ce n'est pas l'écran web : c'est la réunion de restitution — et elle se tient en PowerPoint.</a:t>
            </a:r>
          </a:p>
          <a:p>
            <a:r>
              <a:t>L'animateur présente les résultats d'une équipe (radar, points forts, points à renforcer) en séance — un format diapositive, pas un tableau de bord.</a:t>
            </a:r>
          </a:p>
          <a:p>
            <a:r>
              <a:t>US6.4 : produire ce support en un clic, au template OCTO, scopé par équipe ou par département, sans ressaisie.</a:t>
            </a:r>
          </a:p>
          <a:p>
            <a:r>
              <a:t>Exigence clé : le radar du PowerPoint doit être identique à celui affiché à l'écran.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export PowerPoint directement dans l'outil ?</a:t>
            </a:r>
          </a:p>
        </p:txBody>
      </p:sp>
      <p:pic>
        <p:nvPicPr>
          <p:cNvPr id="4" name="Picture 3" descr="contex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est fabriqué par un agent et des skills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L'export n'est pas un script isolé : c'est une chaîne outillée, pensée pour produire vite un PPT propre et vérifié.</a:t>
            </a:r>
          </a:p>
          <a:p>
            <a:r>
              <a:t>Agent ppt-designer : orchestre la génération et l'amélioration du support (US6.4).</a:t>
            </a:r>
          </a:p>
          <a:p>
            <a:r>
              <a:t>Composants prêts avec pptx-deck (barres, jauge, cartes) et contrôle géométrique avant génération.</a:t>
            </a:r>
          </a:p>
          <a:p>
            <a:r>
              <a:t>Rendu réel et inspection avec pptx-verify, pour voir ce que la géométrie ignore.</a:t>
            </a:r>
          </a:p>
          <a:p>
            <a:r>
              <a:t>Insertion d'image au bon format avec pptx-framed-image, coins du cadre respectés.</a:t>
            </a:r>
          </a:p>
        </p:txBody>
      </p:sp>
      <p:pic>
        <p:nvPicPr>
          <p:cNvPr id="4" name="Picture 3" descr="ag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Étape 1 : le serveur dessine le radar en SVG, puis un Chrome sans fenêtre en prend une photo nette — seul moyen d'obtenir le même dessin qu'à l'écran.</a:t>
            </a:r>
          </a:p>
          <a:p>
            <a:r>
              <a:t>Étape 2 : un programme Python assemble le PowerPoint sur le modèle OCTO et y insère la photo et les chiffres.</a:t>
            </a:r>
          </a:p>
          <a:p>
            <a:r>
              <a:t>Un seul navigateur ouvert pour tous les radars d'un département.</a:t>
            </a:r>
          </a:p>
          <a:p>
            <a:r>
              <a:t>Si Chrome ou Python manquent, seul l'export échoue : le reste de l'application fonctionne.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pipeline enchaîne deux outils qui se passent le relais</a:t>
            </a:r>
          </a:p>
        </p:txBody>
      </p:sp>
      <p:pic>
        <p:nvPicPr>
          <p:cNvPr id="4" name="Picture 3" descr="pip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Deux fragilités corrigées en préparant ce REX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En documentant l'export, j'ai traité deux points qui le rendaient peu reproductible d'un poste à l'autre.</a:t>
            </a:r>
          </a:p>
          <a:p>
            <a:r>
              <a:t>Chemin de Chrome figé : le script de captures lit désormais la variable CHROME_PATH, comme le reste du pipeline.</a:t>
            </a:r>
          </a:p>
          <a:p>
            <a:r>
              <a:t>Version de Python flottante : un requirements.txt fige python-pptx, l'export se réinstalle à l'identique.</a:t>
            </a:r>
          </a:p>
          <a:p>
            <a:r>
              <a:t>Reste ouvert : le radar existe en deux versions (écran et serveur) sans test garantissant qu'elles coïncident.</a:t>
            </a:r>
          </a:p>
        </p:txBody>
      </p:sp>
      <p:pic>
        <p:nvPicPr>
          <p:cNvPr id="4" name="Picture 3" descr="fiabil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Le radar est codé deux fois — écran et PowerPoint — sans garde-fou vérifiant qu'ils produisent le même dessin.</a:t>
            </a:r>
          </a:p>
          <a:p>
            <a:r>
              <a:t>Un slide peut passer tous les contrôles de géométrie et rester raté à l'œil : la géométrie ne suffit pas.</a:t>
            </a:r>
          </a:p>
          <a:p>
            <a:r>
              <a:t>Sans conversion PDF vers image sur ce poste, la seule vérification passe par PowerPoint qui exporte chaque slide.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difficultés : parité du radar et jugement du rendu</a:t>
            </a:r>
          </a:p>
        </p:txBody>
      </p:sp>
      <p:pic>
        <p:nvPicPr>
          <p:cNvPr id="4" name="Picture 3" descr="dif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 réussites : une boîte à outils et une vérification par le rendu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bibliothèque Python réutilisable (barres, jauge, cartes) qui détecte toute forme hors-cadre avant génération.</a:t>
            </a:r>
          </a:p>
          <a:p>
            <a:r>
              <a:t>Une vérification par le rendu réel : générer, exporter en images, regarder — pour voir ce que la géométrie ignore.</a:t>
            </a:r>
          </a:p>
          <a:p>
            <a:r>
              <a:t>Une règle posée tôt : aucune abréviation cryptique dans un livrable client (« écart-type », jamais « é-t »).</a:t>
            </a:r>
          </a:p>
        </p:txBody>
      </p:sp>
      <p:pic>
        <p:nvPicPr>
          <p:cNvPr id="4" name="Picture 3" descr="reussi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t>Une diapositive de synthèse par équipe : moyenne globale en jauge, maturité par pilier en barres, point fort et point à renforcer.</a:t>
            </a:r>
          </a:p>
          <a:p>
            <a:r>
              <a:t>Le radar du PowerPoint reprend celui de l'écran, mêmes couleurs par pilier ; un encart « commentaire » reste à l'animateur.</a:t>
            </a:r>
          </a:p>
          <a:p>
            <a:r>
              <a:t>Généré au template OCTO, pour une équipe comme pour un département.</a:t>
            </a:r>
          </a:p>
          <a:p>
            <a:r>
              <a:rPr b="1">
                <a:solidFill>
                  <a:srgbClr val="1CA9B6"/>
                </a:solidFill>
                <a:hlinkClick r:id="rId2"/>
              </a:rPr>
              <a:t>Voir la démo en direct : localhost:3000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support généré, en un clic depuis l'outil</a:t>
            </a:r>
          </a:p>
        </p:txBody>
      </p:sp>
      <p:pic>
        <p:nvPicPr>
          <p:cNvPr id="4" name="Picture 3" descr="sup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 qu'il faut retenir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r>
              <a:rPr b="1" sz="1400">
                <a:solidFill>
                  <a:srgbClr val="0E2356"/>
                </a:solidFill>
              </a:rPr>
              <a:t>Le pipeline fonctionne de bout en bout ; sa vraie fragilité est l'environnement local, pas le code.</a:t>
            </a:r>
          </a:p>
          <a:p>
            <a:r>
              <a:t>Ça marche : un clic produit un support au bon format, radar fidèle à l'écran, par équipe ou département.</a:t>
            </a:r>
          </a:p>
          <a:p>
            <a:r>
              <a:t>Vigilance : l'export dépend de Chrome et Python installés — deux fragilités déjà réduites pendant ce REX.</a:t>
            </a:r>
          </a:p>
          <a:p>
            <a:r>
              <a:t>Enseignement : sur un livrable visuel, le seul juge fiable reste le rendu réel regardé à l'œil.</a:t>
            </a:r>
          </a:p>
          <a:p>
            <a:r>
              <a:t>Prochaine étape : fiabiliser l'environnement (Epic 8, packaging) avant d'exposer l'export hors du poste de dev.</a:t>
            </a:r>
          </a:p>
        </p:txBody>
      </p:sp>
      <p:pic>
        <p:nvPicPr>
          <p:cNvPr id="4" name="Picture 3" descr="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94" y="306825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332</Words>
  <Application>Microsoft Office PowerPoint</Application>
  <PresentationFormat>On-screen Show (16:9)</PresentationFormat>
  <Paragraphs>38</Paragraphs>
  <Slides>17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Outfit Light</vt:lpstr>
      <vt:lpstr>Century Gothic</vt:lpstr>
      <vt:lpstr>Outfit</vt:lpstr>
      <vt:lpstr>Outfit Medium</vt:lpstr>
      <vt:lpstr>Outfit SemiBold</vt:lpstr>
      <vt:lpstr>Arial</vt:lpstr>
      <vt:lpstr>2026 - OCTO</vt:lpstr>
      <vt:lpstr>[REX] IA export PPT</vt:lpstr>
      <vt:lpstr>Au menu aujourd’hui</vt:lpstr>
      <vt:lpstr>Contexte</vt:lpstr>
      <vt:lpstr>Enjeux techniques</vt:lpstr>
      <vt:lpstr>Mes difficultés et mes réussites</vt:lpstr>
      <vt:lpstr>Démo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Camus, Claude</dc:creator>
  <cp:lastModifiedBy>Camus, Claude</cp:lastModifiedBy>
  <cp:revision>1</cp:revision>
  <dcterms:modified xsi:type="dcterms:W3CDTF">2026-07-07T12:48:22Z</dcterms:modified>
</cp:coreProperties>
</file>