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9"/>
  </p:notesMasterIdLst>
  <p:sldIdLst>
    <p:sldId id="256" r:id="rId2"/>
    <p:sldId id="285" r:id="rId36"/>
    <p:sldId id="286" r:id="rId37"/>
    <p:sldId id="260" r:id="rId4"/>
    <p:sldId id="287" r:id="rId38"/>
    <p:sldId id="261" r:id="rId5"/>
    <p:sldId id="288" r:id="rId39"/>
    <p:sldId id="289" r:id="rId40"/>
    <p:sldId id="262" r:id="rId6"/>
    <p:sldId id="290" r:id="rId41"/>
    <p:sldId id="291" r:id="rId42"/>
    <p:sldId id="263" r:id="rId7"/>
    <p:sldId id="292" r:id="rId43"/>
    <p:sldId id="284" r:id="rId8"/>
    <p:sldId id="293" r:id="rId44"/>
    <p:sldId id="271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Outfit" panose="020B0604020202020204" charset="0"/>
      <p:regular r:id="rId24"/>
      <p:bold r:id="rId25"/>
    </p:embeddedFont>
    <p:embeddedFont>
      <p:font typeface="Outfit Light" panose="020B0604020202020204" charset="0"/>
      <p:regular r:id="rId26"/>
      <p:bold r:id="rId27"/>
    </p:embeddedFont>
    <p:embeddedFont>
      <p:font typeface="Outfit Medium" panose="020B0604020202020204" charset="0"/>
      <p:regular r:id="rId28"/>
      <p:bold r:id="rId29"/>
    </p:embeddedFont>
    <p:embeddedFont>
      <p:font typeface="Outfit SemiBold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ac55f3490c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ac55f3490c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Template de couverture pour pouvoir changer la photo de fond hors catalogue de photo de couverture OCTO </a:t>
            </a:r>
            <a:br>
              <a:rPr lang="en-US" b="1"/>
            </a:br>
            <a:r>
              <a:rPr lang="en-US" sz="1600" b="1"/>
              <a:t>TUTO :</a:t>
            </a:r>
            <a:br>
              <a:rPr lang="en-US" sz="1000"/>
            </a:br>
            <a:r>
              <a:rPr lang="en-US" sz="1000"/>
              <a:t>&gt; Cliquez sur l’image fond de la couverture (cela va sélectionner le filtre bleu)</a:t>
            </a:r>
            <a:br>
              <a:rPr lang="en-US" sz="1000"/>
            </a:br>
            <a:r>
              <a:rPr lang="en-US" sz="1000"/>
              <a:t>&gt; Décalez le filtre bleu sur la droite à l’aide des flèches de votre clavier (pour permettre l’accès à la photo en arrière plan)</a:t>
            </a:r>
            <a:br>
              <a:rPr lang="en-US" sz="1000"/>
            </a:br>
            <a:r>
              <a:rPr lang="en-US" sz="1000"/>
              <a:t>&gt; Cliquez sur la photo en arrière plan </a:t>
            </a:r>
            <a:br>
              <a:rPr lang="en-US" sz="1000"/>
            </a:br>
            <a:r>
              <a:rPr lang="en-US" sz="1000"/>
              <a:t>&gt; Cliquez sur remplacer l’image et importez la photo de votre choix </a:t>
            </a:r>
            <a:br>
              <a:rPr lang="en-US" sz="1000"/>
            </a:br>
            <a:r>
              <a:rPr lang="en-US" sz="1000"/>
              <a:t>&gt; Cliquez sur le filtre bleu et remettez-le en place à l’aide des flèches de votres clavier.</a:t>
            </a:r>
            <a:br>
              <a:rPr lang="en-US" sz="1000"/>
            </a:br>
            <a:br>
              <a:rPr lang="en-US" sz="1000"/>
            </a:br>
            <a:r>
              <a:rPr lang="en-US" sz="1000"/>
              <a:t>Bravo le tour est joué ! :)</a:t>
            </a:r>
            <a:br>
              <a:rPr lang="en-US" sz="1000"/>
            </a:br>
            <a:endParaRPr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SLIDES_API143262596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SLIDES_API143262596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ac55f3490c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g2ac55f3490c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01dfc4c0c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g3f01dfc4c0c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01dfc4c0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g3f01dfc4c0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0598CA00-323D-8E0C-E757-BC02FF3B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>
            <a:extLst>
              <a:ext uri="{FF2B5EF4-FFF2-40B4-BE49-F238E27FC236}">
                <a16:creationId xmlns:a16="http://schemas.microsoft.com/office/drawing/2014/main" id="{FA3BCC7D-9187-F933-86A9-4C9D83E2B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>
            <a:extLst>
              <a:ext uri="{FF2B5EF4-FFF2-40B4-BE49-F238E27FC236}">
                <a16:creationId xmlns:a16="http://schemas.microsoft.com/office/drawing/2014/main" id="{534018B9-7378-B177-BDB0-FD077F467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292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f01dfc4c0c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0" name="Google Shape;790;g3f01dfc4c0c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ac55f3490c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7" name="Google Shape;797;g2ac55f3490c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ac55f3490c_0_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ac55f3490c_0_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ac55f3490c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ac55f3490c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ac55f3490c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ac55f3490c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ac55f3490c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ac55f3490c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ac55f3490c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ac55f3490c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da166e355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da166e355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ac55f3490c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ac55f3490c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ac55f3490c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ac55f3490c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forms/d/e/1FAIpQLSdsdLa5pHJ5McWA0KPScw4Op8M0EZXBt4WTyRWLyk_cmQuwMQ/viewform" TargetMode="External"/><Relationship Id="rId4" Type="http://schemas.openxmlformats.org/officeDocument/2006/relationships/hyperlink" Target="https://mattermost.octo.tools/octo/pl/oafybpwsc3bbzdpxuk16gtspty" TargetMode="External"/><Relationship Id="rId5" Type="http://schemas.openxmlformats.org/officeDocument/2006/relationships/hyperlink" Target="https://script.google.com/a/octo.com/macros/s/AKfycbxo0URVK9I07kw4xveHGI00WUhzz4coonj0WDNCK_xMTwfpQoiFJGl3QKPKDgNagrDGrA/exec" TargetMode="External"/><Relationship Id="rId6" Type="http://schemas.openxmlformats.org/officeDocument/2006/relationships/hyperlink" Target="https://octo.atlassian.net/wiki/spaces/OCTO/pages/4945477635/Super+Powered+by+AI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://localhost:3000" TargetMode="External"/><Relationship Id="rId3" Type="http://schemas.openxmlformats.org/officeDocument/2006/relationships/image" Target="../media/image1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5"/>
          <p:cNvPicPr preferRelativeResize="0"/>
          <p:nvPr/>
        </p:nvPicPr>
        <p:blipFill rotWithShape="1">
          <a:blip r:embed="rId3">
            <a:alphaModFix/>
          </a:blip>
          <a:srcRect t="7798" b="7807"/>
          <a:stretch/>
        </p:blipFill>
        <p:spPr>
          <a:xfrm>
            <a:off x="-3425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568" name="Google Shape;568;p35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rgbClr val="133B9D">
              <a:alpha val="683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9" name="Google Shape;569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70" name="Google Shape;570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571" name="Google Shape;571;p35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2" name="Google Shape;572;p35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35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574" name="Google Shape;574;p35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5" name="Google Shape;575;p35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6" name="Google Shape;576;p35"/>
            <p:cNvCxnSpPr>
              <a:endCxn id="57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7" name="Google Shape;577;p35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5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9" name="Google Shape;579;p35"/>
            <p:cNvCxnSpPr>
              <a:stCxn id="577" idx="2"/>
              <a:endCxn id="57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0" name="Google Shape;580;p35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581" name="Google Shape;581;p35"/>
            <p:cNvCxnSpPr>
              <a:stCxn id="582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3" name="Google Shape;583;p35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4" name="Google Shape;584;p35"/>
            <p:cNvCxnSpPr>
              <a:endCxn id="583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5" name="Google Shape;585;p35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5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6" name="Google Shape;586;p35"/>
            <p:cNvCxnSpPr>
              <a:stCxn id="585" idx="2"/>
              <a:endCxn id="583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7" name="Google Shape;587;p35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588" name="Google Shape;588;p35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589" name="Google Shape;589;p35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5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5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35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3" name="Google Shape;593;p35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4" name="Google Shape;594;p35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[REX] IA export PPT</a:t>
            </a:r>
            <a:endParaRPr dirty="0"/>
          </a:p>
        </p:txBody>
      </p:sp>
      <p:sp>
        <p:nvSpPr>
          <p:cNvPr id="595" name="Google Shape;595;p35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 Technology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6" name="Google Shape;596;p35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⛱️ L'Été de l'IA</a:t>
            </a:r>
            <a:endParaRPr/>
          </a:p>
        </p:txBody>
      </p:sp>
      <p:sp>
        <p:nvSpPr>
          <p:cNvPr id="597" name="Google Shape;597;p35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08.07.26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 menu aujourd’hui</a:t>
            </a:r>
            <a:endParaRPr/>
          </a:p>
        </p:txBody>
      </p:sp>
      <p:sp>
        <p:nvSpPr>
          <p:cNvPr id="640" name="Google Shape;640;p3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41" name="Google Shape;641;p3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42" name="Google Shape;642;p3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Mes difficultés &amp; mes réussites</a:t>
            </a:r>
            <a:endParaRPr dirty="0"/>
          </a:p>
        </p:txBody>
      </p:sp>
      <p:sp>
        <p:nvSpPr>
          <p:cNvPr id="643" name="Google Shape;643;p3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44" name="Google Shape;644;p3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50" name="Google Shape;650;p39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01</a:t>
            </a:r>
            <a:endParaRPr sz="1700" b="1"/>
          </a:p>
        </p:txBody>
      </p:sp>
      <p:pic>
        <p:nvPicPr>
          <p:cNvPr id="651" name="Google Shape;651;p39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0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57" name="Google Shape;657;p40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02</a:t>
            </a:r>
            <a:endParaRPr sz="1700" b="1"/>
          </a:p>
        </p:txBody>
      </p:sp>
      <p:pic>
        <p:nvPicPr>
          <p:cNvPr id="658" name="Google Shape;658;p40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1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Mes difficultés et mes </a:t>
            </a:r>
            <a:r>
              <a:rPr lang="en-US" dirty="0" err="1"/>
              <a:t>réussites</a:t>
            </a:r>
            <a:endParaRPr dirty="0"/>
          </a:p>
        </p:txBody>
      </p:sp>
      <p:sp>
        <p:nvSpPr>
          <p:cNvPr id="664" name="Google Shape;664;p41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03</a:t>
            </a:r>
            <a:endParaRPr sz="1700" b="1"/>
          </a:p>
        </p:txBody>
      </p:sp>
      <p:pic>
        <p:nvPicPr>
          <p:cNvPr id="665" name="Google Shape;665;p41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71" name="Google Shape;671;p42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04</a:t>
            </a:r>
            <a:endParaRPr sz="1700" b="1"/>
          </a:p>
        </p:txBody>
      </p:sp>
      <p:pic>
        <p:nvPicPr>
          <p:cNvPr id="672" name="Google Shape;672;p42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>
          <a:extLst>
            <a:ext uri="{FF2B5EF4-FFF2-40B4-BE49-F238E27FC236}">
              <a16:creationId xmlns:a16="http://schemas.microsoft.com/office/drawing/2014/main" id="{402A778D-91CA-F194-BD0C-F4766A1A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>
            <a:extLst>
              <a:ext uri="{FF2B5EF4-FFF2-40B4-BE49-F238E27FC236}">
                <a16:creationId xmlns:a16="http://schemas.microsoft.com/office/drawing/2014/main" id="{97B5301F-4B35-7763-F66A-C00136B5E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671" name="Google Shape;671;p42">
            <a:extLst>
              <a:ext uri="{FF2B5EF4-FFF2-40B4-BE49-F238E27FC236}">
                <a16:creationId xmlns:a16="http://schemas.microsoft.com/office/drawing/2014/main" id="{70543A09-7116-564E-CE5B-02C75FA1C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 dirty="0"/>
              <a:t>05</a:t>
            </a:r>
            <a:endParaRPr sz="1700" b="1" dirty="0"/>
          </a:p>
        </p:txBody>
      </p:sp>
      <p:pic>
        <p:nvPicPr>
          <p:cNvPr id="672" name="Google Shape;672;p42">
            <a:extLst>
              <a:ext uri="{FF2B5EF4-FFF2-40B4-BE49-F238E27FC236}">
                <a16:creationId xmlns:a16="http://schemas.microsoft.com/office/drawing/2014/main" id="{AA125505-45EF-34F7-2619-B1EC00F4BE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429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9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793" name="Google Shape;793;p49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soumettre de nouveaux REX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Le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GForm est toujours ouvert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Son mail d’accompagnement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naviguer dans les 50+ REX 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Le dashboard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La page Confluence de référence, celle de Super Powered by AI </a:t>
            </a:r>
            <a:endParaRPr/>
          </a:p>
        </p:txBody>
      </p:sp>
      <p:sp>
        <p:nvSpPr>
          <p:cNvPr id="794" name="Google Shape;794;p49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2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52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2" name="Google Shape;812;p52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3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53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9" name="Google Shape;819;p53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4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4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285750" lvl="0" indent="-190500" algn="l" rtl="0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endParaRPr/>
          </a:p>
        </p:txBody>
      </p:sp>
      <p:sp>
        <p:nvSpPr>
          <p:cNvPr id="826" name="Google Shape;826;p54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7" name="Google Shape;82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5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55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5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5" name="Google Shape;83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6"/>
          <p:cNvSpPr txBox="1"/>
          <p:nvPr/>
        </p:nvSpPr>
        <p:spPr>
          <a:xfrm>
            <a:off x="43796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(sl.50)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1" name="Google Shape;841;p56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7"/>
          <p:cNvSpPr txBox="1"/>
          <p:nvPr/>
        </p:nvSpPr>
        <p:spPr>
          <a:xfrm>
            <a:off x="46844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 51)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7" name="Google Shape;847;p57"/>
          <p:cNvPicPr preferRelativeResize="0"/>
          <p:nvPr/>
        </p:nvPicPr>
        <p:blipFill rotWithShape="1">
          <a:blip r:embed="rId3">
            <a:alphaModFix/>
          </a:blip>
          <a:srcRect l="2310" t="671" r="1850" b="661"/>
          <a:stretch/>
        </p:blipFill>
        <p:spPr>
          <a:xfrm>
            <a:off x="841250" y="817575"/>
            <a:ext cx="3652500" cy="3811500"/>
          </a:xfrm>
          <a:prstGeom prst="round2DiagRect">
            <a:avLst>
              <a:gd name="adj1" fmla="val 0"/>
              <a:gd name="adj2" fmla="val 1598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pic>
        <p:nvPicPr>
          <p:cNvPr id="853" name="Google Shape;85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sp>
        <p:nvSpPr>
          <p:cNvPr id="854" name="Google Shape;854;p58"/>
          <p:cNvSpPr txBox="1"/>
          <p:nvPr/>
        </p:nvSpPr>
        <p:spPr>
          <a:xfrm>
            <a:off x="2013700" y="2380900"/>
            <a:ext cx="47664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Titre,contenu, bloc conclu (sl.65, 66, 69, 70)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sp>
        <p:nvSpPr>
          <p:cNvPr id="860" name="Google Shape;860;p59"/>
          <p:cNvSpPr txBox="1"/>
          <p:nvPr/>
        </p:nvSpPr>
        <p:spPr>
          <a:xfrm>
            <a:off x="3366762" y="549225"/>
            <a:ext cx="2709600" cy="31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le slide Titre, sous titre, contenu et cadre blanc (sl. 63, 64, 67, 68)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61" name="Google Shape;861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0" name="Google Shape;600;g3efd8797bc9_0_38"/>
          <p:cNvSpPr txBox="1"/>
          <p:nvPr/>
        </p:nvSpPr>
        <p:spPr>
          <a:xfrm>
            <a:off x="672050" y="182134"/>
            <a:ext cx="1190100" cy="10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fr" sz="22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La</a:t>
            </a:r>
            <a:endParaRPr b="1" sz="2200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fr" sz="22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Huge</a:t>
            </a:r>
            <a:r>
              <a:rPr b="1" i="0" lang="fr" sz="22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 Team</a:t>
            </a:r>
            <a:endParaRPr b="1" i="0" sz="22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1" name="Google Shape;601;g3efd8797bc9_0_38"/>
          <p:cNvSpPr/>
          <p:nvPr/>
        </p:nvSpPr>
        <p:spPr>
          <a:xfrm>
            <a:off x="3861016" y="1167797"/>
            <a:ext cx="4293300" cy="613200"/>
          </a:xfrm>
          <a:prstGeom prst="round2DiagRect">
            <a:avLst>
              <a:gd fmla="val 0" name="adj1"/>
              <a:gd fmla="val 38299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fr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Claude CAMUS (CACL)</a:t>
            </a:r>
            <a:endParaRPr b="1" i="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02" name="Google Shape;602;g3efd8797bc9_0_38" title="BENJ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6275" y="1131634"/>
            <a:ext cx="2562000" cy="25620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pic>
      <p:sp>
        <p:nvSpPr>
          <p:cNvPr id="603" name="Google Shape;603;g3efd8797bc9_0_38"/>
          <p:cNvSpPr/>
          <p:nvPr/>
        </p:nvSpPr>
        <p:spPr>
          <a:xfrm rot="-8092467">
            <a:off x="2796726" y="2500466"/>
            <a:ext cx="1161638" cy="1942286"/>
          </a:xfrm>
          <a:prstGeom prst="moon">
            <a:avLst>
              <a:gd fmla="val 63970" name="adj"/>
            </a:avLst>
          </a:prstGeom>
          <a:solidFill>
            <a:schemeClr val="lt1"/>
          </a:solidFill>
          <a:ln cap="flat" cmpd="sng" w="173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900" lIns="166900" spcFirstLastPara="1" rIns="166900" wrap="square" tIns="166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6"/>
              <a:buFont typeface="Arial"/>
              <a:buNone/>
            </a:pPr>
            <a:r>
              <a:t/>
            </a:r>
            <a:endParaRPr b="0" i="0" sz="25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efd8797bc9_0_38"/>
          <p:cNvSpPr/>
          <p:nvPr/>
        </p:nvSpPr>
        <p:spPr>
          <a:xfrm rot="-8091976">
            <a:off x="8022732" y="3019334"/>
            <a:ext cx="636186" cy="1063845"/>
          </a:xfrm>
          <a:prstGeom prst="moon">
            <a:avLst>
              <a:gd fmla="val 6397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efd8797bc9_0_38"/>
          <p:cNvSpPr/>
          <p:nvPr/>
        </p:nvSpPr>
        <p:spPr>
          <a:xfrm rot="-8091976">
            <a:off x="5582545" y="3019334"/>
            <a:ext cx="636186" cy="1063845"/>
          </a:xfrm>
          <a:prstGeom prst="moon">
            <a:avLst>
              <a:gd fmla="val 6397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efd8797bc9_0_38"/>
          <p:cNvSpPr/>
          <p:nvPr/>
        </p:nvSpPr>
        <p:spPr>
          <a:xfrm>
            <a:off x="3861016" y="1951747"/>
            <a:ext cx="4293300" cy="1741800"/>
          </a:xfrm>
          <a:prstGeom prst="round2DiagRect">
            <a:avLst>
              <a:gd fmla="val 21722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fr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Coach produit, organisation &amp; transformation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fr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Utilisateur de l'IA au quotidien, praticien BMAD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du REX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Contexte &amp; enjeux techniques</a:t>
            </a:r>
          </a:p>
          <a:p>
            <a:r>
              <a:rPr b="0"/>
              <a:t>Pourquoi l'export</a:t>
            </a:r>
          </a:p>
          <a:p>
            <a:r>
              <a:rPr b="0"/>
              <a:t>L'agent et les skills</a:t>
            </a:r>
          </a:p>
          <a:p>
            <a:r>
              <a:rPr b="0"/>
              <a:t>Le pipeline &amp; les fragilités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Difficultés, réussites &amp; démo</a:t>
            </a:r>
          </a:p>
          <a:p>
            <a:r>
              <a:rPr b="0"/>
              <a:t>Mes difficultés</a:t>
            </a:r>
          </a:p>
          <a:p>
            <a:r>
              <a:rPr b="0"/>
              <a:t>Mes réussites</a:t>
            </a:r>
          </a:p>
          <a:p>
            <a:r>
              <a:rPr b="0"/>
              <a:t>Le support généré en direct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Prise de recul</a:t>
            </a:r>
          </a:p>
          <a:p>
            <a:r>
              <a:rPr b="0"/>
              <a:t>Ce qu'il faut retenir</a:t>
            </a:r>
          </a:p>
          <a:p>
            <a:r>
              <a:rPr b="0"/>
              <a:t>La prochaine étape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contexte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Le vrai livrable, ce n'est pas l'écran web : c'est la réunion de restitution — et elle se tient en PowerPoint.</a:t>
            </a:r>
          </a:p>
          <a:p>
            <a:r>
              <a:t>L'animateur présente les résultats d'une équipe (radar, points forts, points à renforcer) en séance — un format diapositive, pas un tableau de bord.</a:t>
            </a:r>
          </a:p>
          <a:p>
            <a:r>
              <a:t>US6.4 : produire ce support en un clic, au template OCTO, scopé par équipe ou par département, sans ressaisie.</a:t>
            </a:r>
          </a:p>
          <a:p>
            <a:r>
              <a:t>Exigence clé : le radar du PowerPoint doit être identique à celui affiché à l'écran.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un export PowerPoint directement dans l'outil 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agent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support est fabriqué par un agent et des skills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L'export n'est pas un script isolé : c'est une chaîne outillée, pensée pour produire vite un PPT propre et vérifié.</a:t>
            </a:r>
          </a:p>
          <a:p>
            <a:r>
              <a:t>Agent ppt-designer : orchestre la génération et l'amélioration du support (US6.4).</a:t>
            </a:r>
          </a:p>
          <a:p>
            <a:r>
              <a:t>Composants prêts avec pptx-deck (barres, jauge, cartes) et contrôle géométrique avant génération.</a:t>
            </a:r>
          </a:p>
          <a:p>
            <a:r>
              <a:t>Rendu réel et inspection avec pptx-verify, pour voir ce que la géométrie ignore.</a:t>
            </a:r>
          </a:p>
          <a:p>
            <a:r>
              <a:t>Skill image : pptx-framed-image insère chaque photo en clonant la forme exacte du cadre, coins respectés.</a:t>
            </a:r>
          </a:p>
          <a:p>
            <a:r>
              <a:t>Skill texte : slide-text-polish relit chaque slide et bannit titres faibles, tournures creuses et abréviations cryptiques.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pipeline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Étape 1 : le serveur dessine le radar en SVG, un Chrome sans fenêtre en prend une photo — seul moyen d'obtenir le même dessin qu'à l'écran.</a:t>
            </a:r>
          </a:p>
          <a:p>
            <a:r>
              <a:t>Étape 2 : un programme Python assemble le PowerPoint sur le modèle OCTO à partir de cette photo et des chiffres de l'équipe.</a:t>
            </a:r>
          </a:p>
          <a:p>
            <a:r>
              <a:t>Un seul navigateur ouvert pour tous les radars d'un département ; si Chrome ou Python manquent, seul l'export échoue.</a:t>
            </a:r>
          </a:p>
          <a:p>
            <a:r>
              <a:t>Deux fragilités corrigées pendant ce REX : CHROME_PATH remplace un chemin figé, requirements.txt fige python-pptx.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pipeline d'export : deux étapes, deux fragilités déjà corrigées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solidFill>
            <a:srgbClr val="FFFFFF"/>
          </a:solidFill>
          <a:ln w="12700">
            <a:solidFill>
              <a:srgbClr val="0E2356"/>
            </a:solidFill>
          </a:ln>
        </p:spPr>
        <p:txBody>
          <a:bodyPr wrap="square" lIns="160000" rIns="120000" tIns="140000" bIns="140000"/>
          <a:lstStyle/>
          <a:p>
            <a:pPr marL="0" indent="0">
              <a:buNone/>
            </a:pPr>
            <a:r>
              <a:rPr b="1" sz="1100">
                <a:solidFill>
                  <a:srgbClr val="0E2356"/>
                </a:solidFill>
              </a:rPr>
              <a:t>Ce PPT-ci aussi : même agent, mêmes skills, texte relu avant publication.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54900" y="3471525"/>
            <a:ext cx="1392300" cy="139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diff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Le radar est codé deux fois — écran et PowerPoint — sans garde-fou vérifiant qu'ils produisent le même dessin.</a:t>
            </a:r>
          </a:p>
          <a:p>
            <a:r>
              <a:t>Un slide peut passer tous les contrôles de géométrie et rester raté à l'œil : la géométrie ne suffit pas.</a:t>
            </a:r>
          </a:p>
          <a:p>
            <a:r>
              <a:t>Sans conversion PDF vers image sur ce poste, la seule vérification passe par PowerPoint qui exporte chaque slide.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difficultés : parité du radar et jugement du rendu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solidFill>
            <a:srgbClr val="FFFFFF"/>
          </a:solidFill>
          <a:ln w="12700">
            <a:solidFill>
              <a:srgbClr val="0E2356"/>
            </a:solidFill>
          </a:ln>
        </p:spPr>
        <p:txBody>
          <a:bodyPr wrap="square" lIns="160000" rIns="120000" tIns="140000" bIns="140000"/>
          <a:lstStyle/>
          <a:p>
            <a:pPr marL="0" indent="0">
              <a:buNone/>
            </a:pPr>
            <a:r>
              <a:rPr b="1" sz="1100">
                <a:solidFill>
                  <a:srgbClr val="0E2356"/>
                </a:solidFill>
              </a:rPr>
              <a:t>Ce support-ci aussi : caler une image dans un cadre à coins arrondis en diagonale.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54900" y="3471525"/>
            <a:ext cx="1392300" cy="139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reussites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réussites : une boîte à outils et une vérification par le rendu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E2356"/>
            </a:solidFill>
          </a:ln>
        </p:spPr>
        <p:txBody>
          <a:bodyPr wrap="square" lIns="160000" rIns="120000" tIns="140000" bIns="140000"/>
          <a:lstStyle/>
          <a:p>
            <a:pPr marL="0" indent="0">
              <a:buNone/>
            </a:pPr>
            <a:r>
              <a:rPr b="1" sz="1100">
                <a:solidFill>
                  <a:srgbClr val="0E2356"/>
                </a:solidFill>
              </a:rPr>
              <a:t>Ce support-ci aussi : le linter a recalé une de mes phrases avant publication.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t>Une bibliothèque Python réutilisable (barres, jauge, cartes) qui détecte toute forme hors-cadre avant génération.</a:t>
            </a:r>
          </a:p>
          <a:p>
            <a:r>
              <a:t>Une vérification par le rendu réel : générer, exporter en images, regarder — pour voir ce que la géométrie ignore.</a:t>
            </a:r>
          </a:p>
          <a:p>
            <a:r>
              <a:t>Une règle posée tôt : aucune abréviation cryptique dans un livrable client (« écart-type », jamais « é-t »).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900" y="3471525"/>
            <a:ext cx="1392300" cy="139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support_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Une diapositive de synthèse par équipe : moyenne globale en jauge, maturité par pilier en barres, point fort et point à renforcer.</a:t>
            </a:r>
          </a:p>
          <a:p>
            <a:r>
              <a:t>Le radar du PowerPoint reprend celui de l'écran, mêmes couleurs par pilier ; un encart « commentaire » reste à l'animateur.</a:t>
            </a:r>
          </a:p>
          <a:p>
            <a:r>
              <a:t>Généré au template OCTO, pour une équipe comme pour un département.</a:t>
            </a:r>
          </a:p>
          <a:p>
            <a:r>
              <a:rPr b="1">
                <a:solidFill>
                  <a:srgbClr val="1CA9B6"/>
                </a:solidFill>
                <a:hlinkClick r:id="rId2"/>
              </a:rPr>
              <a:t>Voir la démo en direct : localhost:3000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support généré, en un clic depuis l'outil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conclusion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qu'il faut retenir sur la génération de ce PPT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La génération de PPT tient sa promesse — un clic produit un support fidèle — mais reste dépendante de l'environnement local.</a:t>
            </a:r>
          </a:p>
          <a:p>
            <a:r>
              <a:t>Radar fidèle à l'écran, support au template OCTO, pour une équipe comme pour un département.</a:t>
            </a:r>
          </a:p>
          <a:p>
            <a:r>
              <a:t>Vigilance : Chrome et Python doivent être installés — deux fragilités déjà réduites pendant ce REX.</a:t>
            </a:r>
          </a:p>
          <a:p>
            <a:r>
              <a:t>Sur un livrable PowerPoint, le seul juge fiable reste le rendu réel regardé à l'œil, jamais la géométrie seule.</a:t>
            </a:r>
          </a:p>
          <a:p>
            <a:r>
              <a:t>Contrainte vécue en préparant ce REX : la limite de 5 heures de Claude Code a été atteinte, un dépassement a été acheté à mes frais pour continuer.</a:t>
            </a:r>
          </a:p>
          <a:p>
            <a:r>
              <a:t>Prochaine étape : fiabiliser l'environnement (Epic 8, packaging) avant d'exposer l'export PPT hors du poste de dev.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332</Words>
  <Application>Microsoft Office PowerPoint</Application>
  <PresentationFormat>On-screen Show (16:9)</PresentationFormat>
  <Paragraphs>38</Paragraphs>
  <Slides>17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Outfit Light</vt:lpstr>
      <vt:lpstr>Century Gothic</vt:lpstr>
      <vt:lpstr>Outfit</vt:lpstr>
      <vt:lpstr>Outfit Medium</vt:lpstr>
      <vt:lpstr>Outfit SemiBold</vt:lpstr>
      <vt:lpstr>Arial</vt:lpstr>
      <vt:lpstr>2026 - OCTO</vt:lpstr>
      <vt:lpstr>[REX] IA export PPT</vt:lpstr>
      <vt:lpstr>Au menu aujourd’hui</vt:lpstr>
      <vt:lpstr>Contexte</vt:lpstr>
      <vt:lpstr>Enjeux techniques</vt:lpstr>
      <vt:lpstr>Mes difficultés et mes réussites</vt:lpstr>
      <vt:lpstr>Démo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Camus, Claude</dc:creator>
  <cp:lastModifiedBy>Camus, Claude</cp:lastModifiedBy>
  <cp:revision>1</cp:revision>
  <dcterms:modified xsi:type="dcterms:W3CDTF">2026-07-07T12:48:22Z</dcterms:modified>
</cp:coreProperties>
</file>