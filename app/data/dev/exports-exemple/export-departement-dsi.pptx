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</c:v>
                </c:pt>
              </c:strCache>
            </c:strRef>
          </c:tx>
          <c:dPt>
            <c:idx val="0"/>
            <c:spPr>
              <a:solidFill>
                <a:srgbClr val="0E2356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1F7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0.5541666666666667</c:v>
                </c:pt>
                <c:pt idx="1">
                  <c:v>0.4458333333333333</c:v>
                </c:pt>
              </c:numCache>
            </c:numRef>
          </c:val>
        </c:ser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</c:v>
                </c:pt>
              </c:strCache>
            </c:strRef>
          </c:tx>
          <c:dPt>
            <c:idx val="0"/>
            <c:spPr>
              <a:solidFill>
                <a:srgbClr val="0E2356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1F7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0.6259259259259259</c:v>
                </c:pt>
                <c:pt idx="1">
                  <c:v>0.3740740740740741</c:v>
                </c:pt>
              </c:numCache>
            </c:numRef>
          </c:val>
        </c:ser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</c:v>
                </c:pt>
              </c:strCache>
            </c:strRef>
          </c:tx>
          <c:dPt>
            <c:idx val="0"/>
            <c:spPr>
              <a:solidFill>
                <a:srgbClr val="0E2356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1F7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0.4824074074074074</c:v>
                </c:pt>
                <c:pt idx="1">
                  <c:v>0.5175925925925926</c:v>
                </c:pt>
              </c:numCache>
            </c:numRef>
          </c:val>
        </c:ser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ac55f3490c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g2ac55f3490c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AFCB"/>
              </a:buClr>
              <a:buSzPts val="1400"/>
              <a:buFont typeface="Century Gothic"/>
              <a:buChar char="๏"/>
            </a:pPr>
            <a:r>
              <a:rPr lang="en-US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Couverture générique 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b83d7a7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8b83d7a7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b83d7a7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g38b83d7a7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b83d7a75f_0_12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38b83d7a75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900" cy="3478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8b83d7a75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g38b83d7a75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b83d7a75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8b83d7a75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b83d7a75f_0_63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g38b83d7a75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b83d7a75f_0_88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38b83d7a75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OCTO Technology</a:t>
            </a:r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69421"/>
              <a:buNone/>
            </a:pPr>
            <a:r>
              <a:rPr lang="en-US" sz="1210" dirty="0"/>
              <a:t>title</a:t>
            </a:r>
            <a:endParaRPr dirty="0"/>
          </a:p>
        </p:txBody>
      </p:sp>
      <p:sp>
        <p:nvSpPr>
          <p:cNvPr id="572" name="Google Shape;572;p36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18.06.26</a:t>
            </a:r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Sub title</a:t>
            </a:r>
            <a:r>
              <a:rPr lang="en-US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Sommaire</a:t>
            </a:r>
            <a:endParaRPr/>
          </a:p>
        </p:txBody>
      </p:sp>
      <p:sp>
        <p:nvSpPr>
          <p:cNvPr id="579" name="Google Shape;579;p37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0" name="Google Shape;580;p37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Notre approche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8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6" name="Google Shape;586;p38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01</a:t>
            </a:r>
            <a:endParaRPr/>
          </a:p>
        </p:txBody>
      </p:sp>
      <p:pic>
        <p:nvPicPr>
          <p:cNvPr id="587" name="Google Shape;58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9"/>
          <p:cNvSpPr/>
          <p:nvPr/>
        </p:nvSpPr>
        <p:spPr>
          <a:xfrm>
            <a:off x="1509675" y="1077250"/>
            <a:ext cx="2926500" cy="3033000"/>
          </a:xfrm>
          <a:prstGeom prst="round1Rect">
            <a:avLst>
              <a:gd name="adj" fmla="val 1942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9"/>
          <p:cNvSpPr/>
          <p:nvPr/>
        </p:nvSpPr>
        <p:spPr>
          <a:xfrm flipH="1">
            <a:off x="69730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4" name="Google Shape;594;p39"/>
          <p:cNvSpPr/>
          <p:nvPr/>
        </p:nvSpPr>
        <p:spPr>
          <a:xfrm>
            <a:off x="83651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704798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Contexte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9"/>
          <p:cNvSpPr txBox="1"/>
          <p:nvPr/>
        </p:nvSpPr>
        <p:spPr>
          <a:xfrm>
            <a:off x="1549725" y="1081726"/>
            <a:ext cx="2886600" cy="29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180975" lvl="0" indent="-14287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utfit"/>
              <a:buChar char="●"/>
            </a:pPr>
            <a:r>
              <a:rPr lang="fr-FR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endParaRPr sz="9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5487850" y="1077275"/>
            <a:ext cx="2958600" cy="3033000"/>
          </a:xfrm>
          <a:prstGeom prst="round1Rect">
            <a:avLst>
              <a:gd name="adj" fmla="val 194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9"/>
          <p:cNvSpPr/>
          <p:nvPr/>
        </p:nvSpPr>
        <p:spPr>
          <a:xfrm flipH="1">
            <a:off x="470755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9" name="Google Shape;599;p39"/>
          <p:cNvSpPr/>
          <p:nvPr/>
        </p:nvSpPr>
        <p:spPr>
          <a:xfrm>
            <a:off x="484676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p39"/>
          <p:cNvSpPr txBox="1"/>
          <p:nvPr/>
        </p:nvSpPr>
        <p:spPr>
          <a:xfrm>
            <a:off x="4715047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Vos Besoins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p39"/>
          <p:cNvSpPr txBox="1"/>
          <p:nvPr/>
        </p:nvSpPr>
        <p:spPr>
          <a:xfrm>
            <a:off x="5627775" y="1081725"/>
            <a:ext cx="2587500" cy="29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lang="fr-FR" sz="900" b="1" dirty="0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r>
              <a:rPr lang="en-US" sz="9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900" b="1" dirty="0">
              <a:solidFill>
                <a:srgbClr val="00D2D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2" name="Google Shape;602;p39"/>
          <p:cNvSpPr/>
          <p:nvPr/>
        </p:nvSpPr>
        <p:spPr>
          <a:xfrm>
            <a:off x="832000" y="4223400"/>
            <a:ext cx="7614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xxx</a:t>
            </a:r>
            <a:endParaRPr sz="10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03" name="Google Shape;603;p39"/>
          <p:cNvGrpSpPr/>
          <p:nvPr/>
        </p:nvGrpSpPr>
        <p:grpSpPr>
          <a:xfrm>
            <a:off x="704793" y="4381959"/>
            <a:ext cx="243320" cy="323982"/>
            <a:chOff x="705768" y="4381896"/>
            <a:chExt cx="243320" cy="323982"/>
          </a:xfrm>
        </p:grpSpPr>
        <p:grpSp>
          <p:nvGrpSpPr>
            <p:cNvPr id="604" name="Google Shape;604;p39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05" name="Google Shape;605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9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08" name="Google Shape;608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10" name="Google Shape;610;p39"/>
          <p:cNvPicPr preferRelativeResize="0"/>
          <p:nvPr/>
        </p:nvPicPr>
        <p:blipFill rotWithShape="1">
          <a:blip r:embed="rId3">
            <a:alphaModFix/>
          </a:blip>
          <a:srcRect l="7673" t="7981" r="7162" b="7922"/>
          <a:stretch/>
        </p:blipFill>
        <p:spPr>
          <a:xfrm>
            <a:off x="969321" y="1293088"/>
            <a:ext cx="375458" cy="37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/>
          <p:cNvPicPr preferRelativeResize="0"/>
          <p:nvPr/>
        </p:nvPicPr>
        <p:blipFill rotWithShape="1">
          <a:blip r:embed="rId4">
            <a:alphaModFix/>
          </a:blip>
          <a:srcRect l="6317" t="6317" r="6308" b="6308"/>
          <a:stretch/>
        </p:blipFill>
        <p:spPr>
          <a:xfrm>
            <a:off x="4952125" y="1263350"/>
            <a:ext cx="430350" cy="4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581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57558"/>
              <a:buNone/>
            </a:pPr>
            <a:r>
              <a:rPr lang="en-US" sz="1720" dirty="0"/>
              <a:t>xxx</a:t>
            </a:r>
            <a:endParaRPr sz="1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Notre approche</a:t>
            </a:r>
            <a:endParaRPr/>
          </a:p>
        </p:txBody>
      </p:sp>
      <p:sp>
        <p:nvSpPr>
          <p:cNvPr id="618" name="Google Shape;618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02</a:t>
            </a:r>
            <a:endParaRPr/>
          </a:p>
        </p:txBody>
      </p:sp>
      <p:pic>
        <p:nvPicPr>
          <p:cNvPr id="619" name="Google Shape;61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1"/>
          <p:cNvSpPr txBox="1">
            <a:spLocks noGrp="1"/>
          </p:cNvSpPr>
          <p:nvPr>
            <p:ph type="title"/>
          </p:nvPr>
        </p:nvSpPr>
        <p:spPr>
          <a:xfrm>
            <a:off x="805445" y="361400"/>
            <a:ext cx="792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E2356"/>
                </a:solidFill>
              </a:rPr>
              <a:t>Notre approche </a:t>
            </a:r>
            <a:endParaRPr/>
          </a:p>
        </p:txBody>
      </p:sp>
      <p:sp>
        <p:nvSpPr>
          <p:cNvPr id="625" name="Google Shape;625;p41"/>
          <p:cNvSpPr/>
          <p:nvPr/>
        </p:nvSpPr>
        <p:spPr>
          <a:xfrm flipH="1">
            <a:off x="1648332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dk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6" name="Google Shape;626;p41"/>
          <p:cNvSpPr/>
          <p:nvPr/>
        </p:nvSpPr>
        <p:spPr>
          <a:xfrm>
            <a:off x="26203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7" name="Google Shape;627;p41"/>
          <p:cNvSpPr txBox="1"/>
          <p:nvPr/>
        </p:nvSpPr>
        <p:spPr>
          <a:xfrm>
            <a:off x="1660509" y="1804430"/>
            <a:ext cx="150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300" b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8" name="Google Shape;628;p41"/>
          <p:cNvSpPr/>
          <p:nvPr/>
        </p:nvSpPr>
        <p:spPr>
          <a:xfrm flipH="1">
            <a:off x="3663654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9" name="Google Shape;629;p41"/>
          <p:cNvSpPr/>
          <p:nvPr/>
        </p:nvSpPr>
        <p:spPr>
          <a:xfrm>
            <a:off x="45729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0" name="Google Shape;630;p41"/>
          <p:cNvSpPr txBox="1"/>
          <p:nvPr/>
        </p:nvSpPr>
        <p:spPr>
          <a:xfrm>
            <a:off x="3379228" y="1804425"/>
            <a:ext cx="1911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3175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déployer les premières recommandations</a:t>
            </a:r>
            <a:endParaRPr sz="1300" b="1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1" name="Google Shape;631;p41"/>
          <p:cNvSpPr/>
          <p:nvPr/>
        </p:nvSpPr>
        <p:spPr>
          <a:xfrm flipH="1">
            <a:off x="5921920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6768453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p41"/>
          <p:cNvSpPr txBox="1"/>
          <p:nvPr/>
        </p:nvSpPr>
        <p:spPr>
          <a:xfrm>
            <a:off x="5922525" y="1804425"/>
            <a:ext cx="1642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continuer la mise en oeuvre itérative du déploiement des actions</a:t>
            </a:r>
            <a:endParaRPr sz="1300" b="1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34" name="Google Shape;634;p41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04565" y="3343769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725" y="3343770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1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6969833" y="3343767"/>
            <a:ext cx="664350" cy="6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1"/>
          <p:cNvSpPr/>
          <p:nvPr/>
        </p:nvSpPr>
        <p:spPr>
          <a:xfrm>
            <a:off x="2053699" y="2732375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1~2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1419100" y="4307875"/>
            <a:ext cx="20976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Comprendre vos ambitions et vos défis, structurer des premières réponses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9" name="Google Shape;639;p41"/>
          <p:cNvSpPr txBox="1"/>
          <p:nvPr/>
        </p:nvSpPr>
        <p:spPr>
          <a:xfrm>
            <a:off x="3476500" y="4307875"/>
            <a:ext cx="230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Déployer et expérimenter les premières recommandations dans une approche itérative tout en ajustant selon les spécificités du terrain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0" name="Google Shape;640;p41"/>
          <p:cNvSpPr txBox="1"/>
          <p:nvPr/>
        </p:nvSpPr>
        <p:spPr>
          <a:xfrm>
            <a:off x="5853045" y="4307875"/>
            <a:ext cx="2097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Continuer à soutenir et à déployer la mise en oeuvre des actions tout en vérifiant l’efficacité et l’impact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1" name="Google Shape;641;p41"/>
          <p:cNvSpPr/>
          <p:nvPr/>
        </p:nvSpPr>
        <p:spPr>
          <a:xfrm>
            <a:off x="4053949" y="2735638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4~5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"/>
          <p:cNvSpPr/>
          <p:nvPr/>
        </p:nvSpPr>
        <p:spPr>
          <a:xfrm>
            <a:off x="696125" y="1212275"/>
            <a:ext cx="2508900" cy="3652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7" name="Google Shape;647;p42"/>
          <p:cNvSpPr/>
          <p:nvPr/>
        </p:nvSpPr>
        <p:spPr>
          <a:xfrm>
            <a:off x="69446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48" name="Google Shape;648;p42"/>
          <p:cNvCxnSpPr/>
          <p:nvPr/>
        </p:nvCxnSpPr>
        <p:spPr>
          <a:xfrm>
            <a:off x="1027522" y="3880078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42"/>
          <p:cNvSpPr/>
          <p:nvPr/>
        </p:nvSpPr>
        <p:spPr>
          <a:xfrm>
            <a:off x="277556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0" name="Google Shape;650;p42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29715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2"/>
          <p:cNvSpPr/>
          <p:nvPr/>
        </p:nvSpPr>
        <p:spPr>
          <a:xfrm>
            <a:off x="3291700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2" name="Google Shape;652;p42"/>
          <p:cNvSpPr/>
          <p:nvPr/>
        </p:nvSpPr>
        <p:spPr>
          <a:xfrm>
            <a:off x="3291700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Premier déploiement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53" name="Google Shape;653;p42"/>
          <p:cNvCxnSpPr/>
          <p:nvPr/>
        </p:nvCxnSpPr>
        <p:spPr>
          <a:xfrm>
            <a:off x="3663797" y="3868706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4" name="Google Shape;654;p42"/>
          <p:cNvSpPr txBox="1"/>
          <p:nvPr/>
        </p:nvSpPr>
        <p:spPr>
          <a:xfrm>
            <a:off x="3332600" y="3875095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mise en oeuvre des ajustements de l’outillage &amp; KPIs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 « ways of working » concrets au service d'une meilleure collaboration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gestion du changement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91106" y="1466510"/>
            <a:ext cx="2508900" cy="15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Fixer le court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déployer les premières actions à plus forte valeur ajoutée et évaluer les gains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construire le moyen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Ajustement de l’outillage et des KPIs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 construction du re-alignement des “ways of working” du delivery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dispositifs d’accompagnement des rôles clés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6" name="Google Shape;656;p42"/>
          <p:cNvSpPr/>
          <p:nvPr/>
        </p:nvSpPr>
        <p:spPr>
          <a:xfrm>
            <a:off x="5372802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7" name="Google Shape;6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950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2"/>
          <p:cNvSpPr/>
          <p:nvPr/>
        </p:nvSpPr>
        <p:spPr>
          <a:xfrm>
            <a:off x="5927975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9" name="Google Shape;659;p42"/>
          <p:cNvSpPr/>
          <p:nvPr/>
        </p:nvSpPr>
        <p:spPr>
          <a:xfrm>
            <a:off x="592797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implémentation itérative</a:t>
            </a:r>
            <a:endParaRPr sz="1100" i="0" u="none" strike="noStrike" cap="none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0" name="Google Shape;660;p42"/>
          <p:cNvSpPr txBox="1"/>
          <p:nvPr/>
        </p:nvSpPr>
        <p:spPr>
          <a:xfrm>
            <a:off x="5968875" y="3861526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Une capacité concrète à “tester et apprendre” des SQUADs pour être plus efficace</a:t>
            </a: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5968878" y="1478150"/>
            <a:ext cx="2467800" cy="14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Mise en oeuvre des actions définies à l’étape précédente selon une approche de test et d’apprentissage (amélioration continue)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800907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63" name="Google Shape;663;p42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8063213" y="1091458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Une approche contextualisée pour un premier déploiement aligné </a:t>
            </a:r>
            <a:endParaRPr/>
          </a:p>
        </p:txBody>
      </p:sp>
      <p:sp>
        <p:nvSpPr>
          <p:cNvPr id="665" name="Google Shape;665;p42"/>
          <p:cNvSpPr txBox="1"/>
          <p:nvPr/>
        </p:nvSpPr>
        <p:spPr>
          <a:xfrm>
            <a:off x="713975" y="3899075"/>
            <a:ext cx="24006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Rapport d’assessment flash : panorama priorisés des douleurs et forces 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Approche détaillée des actions liés aux recommandations pour les streams 2 et 3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686900" y="1462375"/>
            <a:ext cx="2467800" cy="1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Evaluer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les SQUADs du  data warehouse HERMÈS selon  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missions, vision &amp; roadmaps,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/rôles, responsabilités et l’articulation avec les leaders, le management &amp; les experts,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l’efficacité de la comitologie,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l’organisation du process de delivery end to end &amp; les process de qualité,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à piloter sur la base d'indicateurs concrets (roadmap, vélocité, …).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Qualifier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de changement et adapter les recommandations aux spécificités du contexte HERMÈS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67" name="Google Shape;667;p42"/>
          <p:cNvCxnSpPr/>
          <p:nvPr/>
        </p:nvCxnSpPr>
        <p:spPr>
          <a:xfrm>
            <a:off x="6300286" y="3868711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3"/>
          <p:cNvSpPr/>
          <p:nvPr/>
        </p:nvSpPr>
        <p:spPr>
          <a:xfrm>
            <a:off x="1489850" y="1055675"/>
            <a:ext cx="6923100" cy="289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   M   M   J   V   S   D       L   M   M   J   V   S   D       L   M   M   J   V   S   D       L   M   M   J   V   S   D       L   M   M   J   V   S   D  </a:t>
            </a:r>
            <a:r>
              <a:rPr lang="en-US" sz="7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    L   M   M   J   V   S   D       L   M   M   J   V   S   D         L   M   M   J   V   S   D  </a:t>
            </a:r>
            <a:endParaRPr sz="700" b="1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1489850" y="2555576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None/>
            </a:pPr>
            <a:endParaRPr sz="17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74" name="Google Shape;674;p43"/>
          <p:cNvSpPr/>
          <p:nvPr/>
        </p:nvSpPr>
        <p:spPr>
          <a:xfrm>
            <a:off x="3366525" y="2555575"/>
            <a:ext cx="49548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0300" rIns="1080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premiers déploiements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5" name="Google Shape;675;p43"/>
          <p:cNvSpPr/>
          <p:nvPr/>
        </p:nvSpPr>
        <p:spPr>
          <a:xfrm>
            <a:off x="715224" y="255558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endParaRPr sz="7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6" name="Google Shape;676;p43"/>
          <p:cNvSpPr/>
          <p:nvPr/>
        </p:nvSpPr>
        <p:spPr>
          <a:xfrm>
            <a:off x="1489850" y="1979525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7" name="Google Shape;677;p43"/>
          <p:cNvSpPr/>
          <p:nvPr/>
        </p:nvSpPr>
        <p:spPr>
          <a:xfrm>
            <a:off x="1486650" y="1979525"/>
            <a:ext cx="18261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1600" rIns="108000" bIns="20300" anchor="ctr" anchorCtr="0">
            <a:noAutofit/>
          </a:bodyPr>
          <a:lstStyle/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Assessment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8" name="Google Shape;678;p43"/>
          <p:cNvSpPr/>
          <p:nvPr/>
        </p:nvSpPr>
        <p:spPr>
          <a:xfrm>
            <a:off x="715224" y="1979527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01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79" name="Google Shape;679;p43"/>
          <p:cNvCxnSpPr/>
          <p:nvPr/>
        </p:nvCxnSpPr>
        <p:spPr>
          <a:xfrm rot="10800000">
            <a:off x="244261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0" name="Google Shape;680;p43"/>
          <p:cNvSpPr txBox="1"/>
          <p:nvPr/>
        </p:nvSpPr>
        <p:spPr>
          <a:xfrm>
            <a:off x="2459726" y="1405222"/>
            <a:ext cx="521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28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1" name="Google Shape;681;p43"/>
          <p:cNvCxnSpPr/>
          <p:nvPr/>
        </p:nvCxnSpPr>
        <p:spPr>
          <a:xfrm rot="10800000">
            <a:off x="1576975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2" name="Google Shape;682;p43"/>
          <p:cNvSpPr txBox="1"/>
          <p:nvPr/>
        </p:nvSpPr>
        <p:spPr>
          <a:xfrm>
            <a:off x="1587741" y="1414982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21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3" name="Google Shape;683;p43"/>
          <p:cNvCxnSpPr/>
          <p:nvPr/>
        </p:nvCxnSpPr>
        <p:spPr>
          <a:xfrm rot="10800000">
            <a:off x="5004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4" name="Google Shape;684;p43"/>
          <p:cNvSpPr txBox="1"/>
          <p:nvPr/>
        </p:nvSpPr>
        <p:spPr>
          <a:xfrm>
            <a:off x="3312762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5" name="Google Shape;685;p43"/>
          <p:cNvCxnSpPr/>
          <p:nvPr/>
        </p:nvCxnSpPr>
        <p:spPr>
          <a:xfrm rot="10800000">
            <a:off x="5852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6" name="Google Shape;686;p43"/>
          <p:cNvSpPr txBox="1"/>
          <p:nvPr/>
        </p:nvSpPr>
        <p:spPr>
          <a:xfrm>
            <a:off x="4158508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12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7" name="Google Shape;687;p43"/>
          <p:cNvCxnSpPr/>
          <p:nvPr/>
        </p:nvCxnSpPr>
        <p:spPr>
          <a:xfrm rot="10800000">
            <a:off x="673553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8" name="Google Shape;688;p43"/>
          <p:cNvSpPr txBox="1"/>
          <p:nvPr/>
        </p:nvSpPr>
        <p:spPr>
          <a:xfrm>
            <a:off x="5017087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19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Planning des interventions</a:t>
            </a:r>
            <a:endParaRPr/>
          </a:p>
        </p:txBody>
      </p:sp>
      <p:cxnSp>
        <p:nvCxnSpPr>
          <p:cNvPr id="690" name="Google Shape;690;p43"/>
          <p:cNvCxnSpPr/>
          <p:nvPr/>
        </p:nvCxnSpPr>
        <p:spPr>
          <a:xfrm rot="10800000">
            <a:off x="762069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1" name="Google Shape;691;p43"/>
          <p:cNvSpPr txBox="1"/>
          <p:nvPr/>
        </p:nvSpPr>
        <p:spPr>
          <a:xfrm>
            <a:off x="5858674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26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720500" y="4299600"/>
            <a:ext cx="7743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Cette mission pourra démarrer à partir du 21 JUIN*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i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* date de démarrage TBD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93" name="Google Shape;693;p43"/>
          <p:cNvGrpSpPr/>
          <p:nvPr/>
        </p:nvGrpSpPr>
        <p:grpSpPr>
          <a:xfrm>
            <a:off x="610048" y="4458096"/>
            <a:ext cx="243320" cy="323982"/>
            <a:chOff x="705768" y="4381896"/>
            <a:chExt cx="243320" cy="323982"/>
          </a:xfrm>
        </p:grpSpPr>
        <p:grpSp>
          <p:nvGrpSpPr>
            <p:cNvPr id="694" name="Google Shape;694;p43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95" name="Google Shape;695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43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98" name="Google Shape;698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00" name="Google Shape;70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610" y="1950245"/>
            <a:ext cx="386700" cy="341194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3"/>
          <p:cNvSpPr txBox="1"/>
          <p:nvPr/>
        </p:nvSpPr>
        <p:spPr>
          <a:xfrm>
            <a:off x="1281165" y="2202705"/>
            <a:ext cx="76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Kick off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21208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715224" y="312561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PILOTAGE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479512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3"/>
          <p:cNvSpPr/>
          <p:nvPr/>
        </p:nvSpPr>
        <p:spPr>
          <a:xfrm>
            <a:off x="56260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3"/>
          <p:cNvSpPr/>
          <p:nvPr/>
        </p:nvSpPr>
        <p:spPr>
          <a:xfrm>
            <a:off x="6506077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3"/>
          <p:cNvSpPr txBox="1"/>
          <p:nvPr/>
        </p:nvSpPr>
        <p:spPr>
          <a:xfrm>
            <a:off x="2601811" y="3333328"/>
            <a:ext cx="1038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Restitution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08" name="Google Shape;708;p43"/>
          <p:cNvCxnSpPr/>
          <p:nvPr/>
        </p:nvCxnSpPr>
        <p:spPr>
          <a:xfrm rot="10800000">
            <a:off x="330825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43"/>
          <p:cNvCxnSpPr/>
          <p:nvPr/>
        </p:nvCxnSpPr>
        <p:spPr>
          <a:xfrm rot="10800000">
            <a:off x="4156253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0" name="Google Shape;710;p43"/>
          <p:cNvSpPr txBox="1"/>
          <p:nvPr/>
        </p:nvSpPr>
        <p:spPr>
          <a:xfrm>
            <a:off x="675167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11" name="Google Shape;711;p43"/>
          <p:cNvSpPr txBox="1"/>
          <p:nvPr/>
        </p:nvSpPr>
        <p:spPr>
          <a:xfrm>
            <a:off x="764655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9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712" name="Google Shape;71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804" y="3066075"/>
            <a:ext cx="386711" cy="37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0277" y="1345475"/>
            <a:ext cx="1657050" cy="21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3"/>
          <p:cNvSpPr/>
          <p:nvPr/>
        </p:nvSpPr>
        <p:spPr>
          <a:xfrm>
            <a:off x="3987650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Restitution — Maturité agile/produit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Département DSI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07/07/2026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DSI — 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1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6 répondant(s) · 2 équipe(s)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35607"/>
            <a:ext cx="2606040" cy="2770632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7652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MOYENNE GLOBALE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91540" y="2061972"/>
          <a:ext cx="18288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1540" y="2061972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400" b="1" i="0">
                <a:solidFill>
                  <a:srgbClr val="1C2330"/>
                </a:solidFill>
              </a:rPr>
              <a:t>1.7</a:t>
            </a:r>
          </a:p>
          <a:p>
            <a:pPr algn="ctr"/>
            <a:r>
              <a:rPr sz="105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005839"/>
            <a:ext cx="502919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MATURITÉ PAR PILIER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243584"/>
            <a:ext cx="5029199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86080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613916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Équipe produit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805940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805940"/>
            <a:ext cx="1015999" cy="21945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7" y="1613916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4643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217420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Excellence technique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409444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2409444"/>
            <a:ext cx="1483359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7" y="2217420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0678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820924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Culture de l'entreprise agile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012948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0" y="3012948"/>
            <a:ext cx="1389887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7" y="2820924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6713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3424428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Agilité à l'échelle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616452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0" y="3616452"/>
            <a:ext cx="975359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7" y="3424428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182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334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5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486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7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6387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79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480560"/>
            <a:ext cx="7863840" cy="47548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Point fort : </a:t>
            </a:r>
            <a:r>
              <a:rPr sz="1050" b="1">
                <a:solidFill>
                  <a:srgbClr val="1C2330"/>
                </a:solidFill>
              </a:rPr>
              <a:t>Excellence technique — 2.0 /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572000"/>
            <a:ext cx="10972" cy="292608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09159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2861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À renforcer : </a:t>
            </a:r>
            <a:r>
              <a:rPr sz="1050" b="1">
                <a:solidFill>
                  <a:srgbClr val="1C2330"/>
                </a:solidFill>
              </a:rPr>
              <a:t>Agilité à l'échelle — 1.3 /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DSI — Radar de maturité</a:t>
            </a:r>
          </a:p>
        </p:txBody>
      </p:sp>
      <p:pic>
        <p:nvPicPr>
          <p:cNvPr id="3" name="Picture 2" descr="radar-9985da19-9dba-4cff-a3d7-93d2566d42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219962" cy="3931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97202" y="2514600"/>
            <a:ext cx="2643877" cy="100584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97202" y="2514600"/>
            <a:ext cx="64008" cy="100584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34946" y="2660904"/>
            <a:ext cx="2186677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6B7280"/>
                </a:solidFill>
              </a:rPr>
              <a:t>COMMENTAIRE DE RESTITUTION</a:t>
            </a:r>
          </a:p>
          <a:p>
            <a:pPr algn="l"/>
            <a:r>
              <a:rPr sz="1050" b="0" i="1">
                <a:solidFill>
                  <a:srgbClr val="6B7280"/>
                </a:solidFill>
              </a:rPr>
              <a:t>(à compléter)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DSI — Points forts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hauts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haute — points d'appui à valoriser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3196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3196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37617"/>
            <a:ext cx="3319271" cy="127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50" b="1" i="0">
                <a:solidFill>
                  <a:srgbClr val="1C2330"/>
                </a:solidFill>
              </a:rPr>
              <a:t>Comment le management perçoit et encourage l'agilité…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01556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Culture de l'entreprise agile · Leadership et Culture a…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48444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" y="2248444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5" y="2115856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66970"/>
            <a:ext cx="3703320" cy="103196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66970"/>
            <a:ext cx="64008" cy="103196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049523"/>
            <a:ext cx="3319271" cy="127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50" b="1" i="0">
                <a:solidFill>
                  <a:srgbClr val="1C2330"/>
                </a:solidFill>
              </a:rPr>
              <a:t>Comment l'aménagement des espaces de travail…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213462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Culture de l'entreprise agile · Leadership et Culture 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460350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" y="3460350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5" y="332776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78876"/>
            <a:ext cx="3703320" cy="90460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078876"/>
            <a:ext cx="64008" cy="90460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197748"/>
            <a:ext cx="3319271" cy="127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50" b="1" i="0">
                <a:solidFill>
                  <a:srgbClr val="1C2330"/>
                </a:solidFill>
              </a:rPr>
              <a:t>L'équipe a-t-elle un mode de fonctionnement produit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608575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2376" y="4608575"/>
            <a:ext cx="1874519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5" y="4475987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2.5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Meilleurs accords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Dispersion la plus faible des réponses — consensus fort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921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921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773935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Comment la collaboration est-elle soutenue 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54856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Culture de l'entreprise agile · Rôles et collaboration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01744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571744" y="22017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77455" y="2069156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2714134"/>
            <a:ext cx="3703320" cy="106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63440" y="2714134"/>
            <a:ext cx="64008" cy="1065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905178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Comment les rôles agiles dans l'équipe…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308609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Culture de l'entreprise agile · Rôles et collaboration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82896" y="333298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0591" y="333298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77455" y="320039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3917550"/>
            <a:ext cx="3703320" cy="106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63440" y="3917550"/>
            <a:ext cx="64008" cy="1065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82896" y="4108594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Comment le management perçoit et encourage…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2896" y="4289514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Culture de l'entreprise agile · Leadership et Culture a…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82896" y="4536402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49440" y="453640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77455" y="4403814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DSI — Points d'attention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Plus forts désaccords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Forte dispersion des réponses — sujets à clarifier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Comment l'équipe a les moyens d'organiser son delivery…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Excellence technique · Ingénierie logicielle et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" y="2235707"/>
            <a:ext cx="1377695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10311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1.0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1779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11779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990087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Comment mettez-vous en œuvre la stratégie de Qualité du…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145535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Excellence technique · Ingénierie logicielle et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392423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11224" y="3392423"/>
            <a:ext cx="1377696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936" y="3259835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1.0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68495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968495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146803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Quelle est la stratégie des tests mise en place dans…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302251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Excellence technique · Ingénierie logicielle et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549139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11224" y="4549139"/>
            <a:ext cx="1377696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6936" y="4416551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1.0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basse — leviers de progrès prioritaires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9878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987845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819802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75250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22138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882896" y="2222138"/>
            <a:ext cx="374903" cy="118872"/>
          </a:xfrm>
          <a:prstGeom prst="roundRect">
            <a:avLst>
              <a:gd name="adj" fmla="val 50000"/>
            </a:avLst>
          </a:prstGeom>
          <a:solidFill>
            <a:srgbClr val="CF7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5" y="208955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0.5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2767502"/>
            <a:ext cx="3703320" cy="11035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63440" y="2767502"/>
            <a:ext cx="64008" cy="11035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930651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Comment l'équipe fonctionne-t-elle "as a service" dans sa façon de répondre aux sollicitations ou aux demandes des…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3204971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82896" y="345185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82896" y="3451859"/>
            <a:ext cx="374903" cy="118872"/>
          </a:xfrm>
          <a:prstGeom prst="roundRect">
            <a:avLst>
              <a:gd name="adj" fmla="val 50000"/>
            </a:avLst>
          </a:prstGeom>
          <a:solidFill>
            <a:srgbClr val="CF7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5" y="3319271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0.5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3995633"/>
            <a:ext cx="3703320" cy="9878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63440" y="3995633"/>
            <a:ext cx="64008" cy="987845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82896" y="4160372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Quel est mon niveau de connaissance du projet de…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2896" y="4315820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Agilité à l'échelle · Vision de la transformation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82896" y="4562708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82896" y="4562708"/>
            <a:ext cx="374903" cy="118872"/>
          </a:xfrm>
          <a:prstGeom prst="roundRect">
            <a:avLst>
              <a:gd name="adj" fmla="val 50000"/>
            </a:avLst>
          </a:prstGeom>
          <a:solidFill>
            <a:srgbClr val="CF7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60335" y="443012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0.5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1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DSI · 3 répondant(s)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35607"/>
            <a:ext cx="2606040" cy="2770632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7652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MOYENNE GLOBALE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91540" y="2061972"/>
          <a:ext cx="18288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1540" y="2061972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400" b="1" i="0">
                <a:solidFill>
                  <a:srgbClr val="1C2330"/>
                </a:solidFill>
              </a:rPr>
              <a:t>1.9</a:t>
            </a:r>
          </a:p>
          <a:p>
            <a:pPr algn="ctr"/>
            <a:r>
              <a:rPr sz="105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005839"/>
            <a:ext cx="502919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MATURITÉ PAR PILIER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243584"/>
            <a:ext cx="5029199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86080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613916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Équipe produit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805940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805940"/>
            <a:ext cx="1381759" cy="21945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7" y="1613916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4643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217420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Excellence technique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409444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2409444"/>
            <a:ext cx="2113279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7" y="2217420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2.9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0678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820924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Culture de l'entreprise agile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012948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0" y="3012948"/>
            <a:ext cx="1389887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7" y="2820924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6713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3424428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Agilité à l'échelle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616452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0" y="3616452"/>
            <a:ext cx="609599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7" y="3424428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0.8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182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334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5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486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7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6387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79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480560"/>
            <a:ext cx="7863840" cy="47548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Point fort : </a:t>
            </a:r>
            <a:r>
              <a:rPr sz="1050" b="1">
                <a:solidFill>
                  <a:srgbClr val="1C2330"/>
                </a:solidFill>
              </a:rPr>
              <a:t>Excellence technique — 2.9 /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572000"/>
            <a:ext cx="10972" cy="292608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09159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2861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À renforcer : </a:t>
            </a:r>
            <a:r>
              <a:rPr sz="1050" b="1">
                <a:solidFill>
                  <a:srgbClr val="1C2330"/>
                </a:solidFill>
              </a:rPr>
              <a:t>Agilité à l'échelle — 0.8 /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Radar de maturité</a:t>
            </a:r>
          </a:p>
        </p:txBody>
      </p:sp>
      <p:pic>
        <p:nvPicPr>
          <p:cNvPr id="3" name="Picture 2" descr="radar-8df85c01-a221-437a-8b9f-e0d342230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219962" cy="3931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97202" y="2514600"/>
            <a:ext cx="2643877" cy="100584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97202" y="2514600"/>
            <a:ext cx="64008" cy="100584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34946" y="2660904"/>
            <a:ext cx="2186677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6B7280"/>
                </a:solidFill>
              </a:rPr>
              <a:t>COMMENTAIRE DE RESTITUTION</a:t>
            </a:r>
          </a:p>
          <a:p>
            <a:pPr algn="l"/>
            <a:r>
              <a:rPr sz="1050" b="0" i="1">
                <a:solidFill>
                  <a:srgbClr val="6B7280"/>
                </a:solidFill>
              </a:rPr>
              <a:t>(à compléter)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Points forts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hauts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haute — points d'appui à valoriser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6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65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46108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L'équipe a-t-elle un mode de fonctionnement…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27028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73916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" y="2273916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5" y="2141328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58479"/>
            <a:ext cx="3703320" cy="921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58479"/>
            <a:ext cx="64008" cy="921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977351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L'équipe a-t-elle un Product Owner légitime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158271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Orientation Client et Pilotage par la…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40515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" y="340515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5" y="3272571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17550"/>
            <a:ext cx="3703320" cy="106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917550"/>
            <a:ext cx="64008" cy="1065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108594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Comment mettez-vous en œuvre la stratégie de…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289514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Excellence technique · Ingénierie logicielle et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536402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2376" y="4536402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5" y="4403814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Meilleurs accords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Dispersion la plus faible des réponses — consensus fort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571744" y="22357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77455" y="210311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2811779"/>
            <a:ext cx="3703320" cy="11338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63440" y="2811779"/>
            <a:ext cx="64008" cy="113385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990087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besoins utilisateurs sont-ils compris et reformulés selon les critères d'une histoire utilisateur ou user story…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326440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82896" y="351129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0591" y="351129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77455" y="337870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4087367"/>
            <a:ext cx="3703320" cy="8961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63440" y="4087367"/>
            <a:ext cx="64008" cy="896111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82896" y="4206239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L'équipe a-t-elle un mode de fonctionnement produit 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289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82896" y="460857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49440" y="460857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77455" y="447598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Points d'attention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Plus forts désaccords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Forte dispersion des réponses — sujets à clarifier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11224" y="22357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10311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1779"/>
            <a:ext cx="3703320" cy="11338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11779"/>
            <a:ext cx="64008" cy="1133855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990087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besoins utilisateurs sont-ils compris et reformulés selon les critères d'une histoire utilisateur ou user story…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26440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51129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00072" y="351129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936" y="337870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87367"/>
            <a:ext cx="3703320" cy="8961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087367"/>
            <a:ext cx="64008" cy="896111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206239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L'équipe a-t-elle un mode de fonctionnement produit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60857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460857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6936" y="447598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basse — leviers de progrès prioritaires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Quel est mon niveau de connaissance du projet de…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Agilité à l'échelle · Vision de la transformation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35707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5" y="2103119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2811779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63440" y="2811779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82896" y="2990087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Comment est organisé le processus de la demande et la…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6" y="3145535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Agilité à l'échelle · Gouvernance et Management des pro…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82896" y="3392423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5" y="3259835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3968495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63440" y="3968495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82896" y="4146803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2896" y="4302251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82896" y="454913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882896" y="4549139"/>
            <a:ext cx="749807" cy="118872"/>
          </a:xfrm>
          <a:prstGeom prst="roundRect">
            <a:avLst>
              <a:gd name="adj" fmla="val 50000"/>
            </a:avLst>
          </a:prstGeom>
          <a:solidFill>
            <a:srgbClr val="CF7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0335" y="4416551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1.0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Beta — 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1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DSI · 3 répondant(s)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35607"/>
            <a:ext cx="2606040" cy="2770632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7652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MOYENNE GLOBALE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91540" y="2061972"/>
          <a:ext cx="18288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1540" y="2061972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400" b="1" i="0">
                <a:solidFill>
                  <a:srgbClr val="1C2330"/>
                </a:solidFill>
              </a:rPr>
              <a:t>1.4</a:t>
            </a:r>
          </a:p>
          <a:p>
            <a:pPr algn="ctr"/>
            <a:r>
              <a:rPr sz="105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005839"/>
            <a:ext cx="502919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MATURITÉ PAR PILIER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243584"/>
            <a:ext cx="5029199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86080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613916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Équipe produit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805940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805940"/>
            <a:ext cx="650239" cy="21945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7" y="1613916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0.9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4643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217420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Excellence technique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409444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2409444"/>
            <a:ext cx="853439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7" y="2217420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0678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820924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Culture de l'entreprise agile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012948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0" y="3012948"/>
            <a:ext cx="1389887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7" y="2820924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6713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3424428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Agilité à l'échelle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616452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0" y="3616452"/>
            <a:ext cx="1341119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7" y="3424428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182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334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5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486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7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6387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79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480560"/>
            <a:ext cx="7863840" cy="47548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Point fort : </a:t>
            </a:r>
            <a:r>
              <a:rPr sz="1050" b="1">
                <a:solidFill>
                  <a:srgbClr val="1C2330"/>
                </a:solidFill>
              </a:rPr>
              <a:t>Culture de l'entreprise agile — 1.9 /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572000"/>
            <a:ext cx="10972" cy="292608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09159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2861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À renforcer : </a:t>
            </a:r>
            <a:r>
              <a:rPr sz="1050" b="1">
                <a:solidFill>
                  <a:srgbClr val="1C2330"/>
                </a:solidFill>
              </a:rPr>
              <a:t>Équipe produit — 0.9 /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Beta — Radar de maturité</a:t>
            </a:r>
          </a:p>
        </p:txBody>
      </p:sp>
      <p:pic>
        <p:nvPicPr>
          <p:cNvPr id="3" name="Picture 2" descr="radar-f4d416d0-786f-4764-a196-31329f5ad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219962" cy="3931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97202" y="2514600"/>
            <a:ext cx="2643877" cy="100584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97202" y="2514600"/>
            <a:ext cx="64008" cy="100584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34946" y="2660904"/>
            <a:ext cx="2186677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6B7280"/>
                </a:solidFill>
              </a:rPr>
              <a:t>COMMENTAIRE DE RESTITUTION</a:t>
            </a:r>
          </a:p>
          <a:p>
            <a:pPr algn="l"/>
            <a:r>
              <a:rPr sz="1050" b="0" i="1">
                <a:solidFill>
                  <a:srgbClr val="6B7280"/>
                </a:solidFill>
              </a:rPr>
              <a:t>(à compléter)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Beta — Points forts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hauts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haute — points d'appui à valoriser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489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48947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41862"/>
            <a:ext cx="3319271" cy="1358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00" b="1" i="0">
                <a:solidFill>
                  <a:srgbClr val="1C2330"/>
                </a:solidFill>
              </a:rPr>
              <a:t>Comment le management perçoit et encourage…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14292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Culture de l'entreprise agile · Leadership et Culture a…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61180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" y="2261180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5" y="212859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62724"/>
            <a:ext cx="3703320" cy="10489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62724"/>
            <a:ext cx="64008" cy="1048947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049523"/>
            <a:ext cx="3319271" cy="1358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00" b="1" i="0">
                <a:solidFill>
                  <a:srgbClr val="1C2330"/>
                </a:solidFill>
              </a:rPr>
              <a:t>Comment l'aménagement des espaces de travail…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221953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Culture de l'entreprise agile · Leadership et Culture 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468841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" y="3468841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5" y="3336253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70385"/>
            <a:ext cx="3703320" cy="91309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070385"/>
            <a:ext cx="64008" cy="913093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189257"/>
            <a:ext cx="3319271" cy="1358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00" b="1" i="0">
                <a:solidFill>
                  <a:srgbClr val="1C2330"/>
                </a:solidFill>
              </a:rPr>
              <a:t>Comment organisez-vous les dépendances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Agilité à l'échelle · Fonctionnement agile à l'échelle…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608575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2376" y="4608575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5" y="4475987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Meilleurs accords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Dispersion la plus faible des réponses — consensus fort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88289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77455" y="210311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2811779"/>
            <a:ext cx="3703320" cy="11338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63440" y="2811779"/>
            <a:ext cx="64008" cy="113385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990087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besoins utilisateurs sont-ils compris et reformulés selon les critères d'une histoire utilisateur ou user story…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326440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82896" y="351129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571744" y="351129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77455" y="337870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4087367"/>
            <a:ext cx="3703320" cy="8961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63440" y="4087367"/>
            <a:ext cx="64008" cy="896111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82896" y="4206239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L'équipe a-t-elle un mode de fonctionnement produit 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289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82896" y="460857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60591" y="460857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77455" y="447598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Beta — Points d'attention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Plus forts désaccords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Forte dispersion des réponses — sujets à clarifier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10311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1779"/>
            <a:ext cx="3703320" cy="11338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11779"/>
            <a:ext cx="64008" cy="1133855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990087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besoins utilisateurs sont-ils compris et reformulés selon les critères d'une histoire utilisateur ou user story…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26440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51129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11224" y="351129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936" y="337870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87367"/>
            <a:ext cx="3703320" cy="8961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087367"/>
            <a:ext cx="64008" cy="896111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206239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L'équipe a-t-elle un mode de fonctionnement produit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60857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0072" y="460857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6936" y="447598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basse — leviers de progrès prioritaires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9878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987845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819802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75250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22138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5" y="208955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2767502"/>
            <a:ext cx="3703320" cy="11035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63440" y="2767502"/>
            <a:ext cx="64008" cy="11035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82896" y="2930651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Comment l'équipe fonctionne-t-elle "as a service" dans sa façon de répondre aux sollicitations ou aux demandes des…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6" y="3204971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82896" y="345185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5" y="3319271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3995633"/>
            <a:ext cx="3703320" cy="9878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63440" y="3995633"/>
            <a:ext cx="64008" cy="987845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82896" y="4160372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Comment l'équipe a les moyens d'organiser son delivery…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2896" y="4315820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Excellence technique · Ingénierie logicielle et Testing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82896" y="4562708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0335" y="443012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